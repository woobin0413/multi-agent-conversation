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Title</a:t>
            </a:r>
          </a:p>
          <a:p/>
          <a:p>
            <a:r>
              <a:t>Welcome everyone. Today I want to talk about something that has fundamentally changed how I build software with AI — it's called Spec-Driven Development, or SDD.</a:t>
            </a:r>
          </a:p>
          <a:p/>
          <a:p>
            <a:r>
              <a:t>Here's the core idea in one sentence: instead of jumping straight into code or giving AI vague instructions, you write detailed specifications first — and then you let AI agents build from those specs.</a:t>
            </a:r>
          </a:p>
          <a:p/>
          <a:p>
            <a:r>
              <a:t>The tagline on screen says it all: "Write the spec. Let AI build it right."</a:t>
            </a:r>
          </a:p>
          <a:p/>
          <a:p>
            <a:r>
              <a:t>By the end of this presentation, you'll understand what SDD is, why it matters especially for AI-assisted development, and how to start using it yourself. I'll also walk you through a real project we built using this approach — with a full audit of where we followed the spec and where we didn't — because the lessons from where things break down are just as valuable as the success stories.</a:t>
            </a:r>
          </a:p>
          <a:p/>
          <a:p>
            <a:r>
              <a:t>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The Problem</a:t>
            </a:r>
          </a:p>
          <a:p/>
          <a:p>
            <a:r>
              <a:t>Let me start with the problem we've all experienced.</a:t>
            </a:r>
          </a:p>
          <a:p/>
          <a:p>
            <a:r>
              <a:t>On the left side, you see what happens without specs. You tell an AI something like "Build a story app with two AI characters." Sounds reasonable, right? But think about how many decisions are hidden in that sentence. What framework? What language? What does the UI look like? How do the characters take turns? How does streaming work? What happens when the user pauses?</a:t>
            </a:r>
          </a:p>
          <a:p/>
          <a:p>
            <a:r>
              <a:t>The AI has to guess all of that. And it will guess wrong — not because it's bad at coding, but because it can't read your mind. So you get output that doesn't match what you wanted. You correct it. That correction breaks something else. You fix that. And you end up in this painful loop: prompt, wrong output, fix, repeat — for hours.</a:t>
            </a:r>
          </a:p>
          <a:p/>
          <a:p>
            <a:r>
              <a:t>Now look at the right side. With SDD, before you write a single line of code, you write a specification. You define your types — what does a StoryEvent look like? You define your methods — what does createSession() take as input, what does it return? You define behaviors — what happens when the user clicks pause? What happens on turn 15?</a:t>
            </a:r>
          </a:p>
          <a:p/>
          <a:p>
            <a:r>
              <a:t>When you hand that to an AI agent, it doesn't have to guess. It follows your spec. The output matches your design. And instead of hours of back-and-forth, you get a working implementation in one pass.</a:t>
            </a:r>
          </a:p>
          <a:p/>
          <a:p>
            <a:r>
              <a:t>That's the promise of SDD. Let me show you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What Is SDD?</a:t>
            </a:r>
          </a:p>
          <a:p/>
          <a:p>
            <a:r>
              <a:t>So what exactly is Spec-Driven Development?</a:t>
            </a:r>
          </a:p>
          <a:p/>
          <a:p>
            <a:r>
              <a:t>It's a methodology — a way of working — where you write detailed specifications before you write any implementation code. The idea is simple: you define everything upfront so that when AI agents start building, there's no ambiguity.</a:t>
            </a:r>
          </a:p>
          <a:p/>
          <a:p>
            <a:r>
              <a:t>There are three pillars to a good spec. Let me walk through them.</a:t>
            </a:r>
          </a:p>
          <a:p/>
          <a:p>
            <a:r>
              <a:t>First — Types and Interfaces. This is where you define your data structures. For example, in our project we defined a StoryEvent interface with exactly seven fields: turn number, total turns, character name, text color, background color, the text itself, and an isFinal flag. Every component in the system — backend and frontend — uses this exact same interface. No guessing, no mismatches.</a:t>
            </a:r>
          </a:p>
          <a:p/>
          <a:p>
            <a:r>
              <a:t>Second — Method Signatures. For every service and function, you write down: what are the inputs, what's the output, and what happens inside? Not just "handles sessions" but "createSession generates a UUID, creates a new StorySession object, stores it in a Map, and returns the session." That level of detail.</a:t>
            </a:r>
          </a:p>
          <a:p/>
          <a:p>
            <a:r>
              <a:t>Third — Data Flow and Errors. You document how data moves through the entire system. When a user clicks "Begin Story," what HTTP request fires? What does the response look like? What happens on error? What happens on the last turn?</a:t>
            </a:r>
          </a:p>
          <a:p/>
          <a:p>
            <a:r>
              <a:t>At the bottom you'll see the core principle of SDD: "If it's not in the spec, it doesn't exist." This matters because AI agents will only build what you tell them to. If you forget to spec error handling, you won't get error handling. If you forget to spec the pause behavior, the AI will make something up.</a:t>
            </a:r>
          </a:p>
          <a:p/>
          <a:p>
            <a:r>
              <a:t>The specs are atomic — each one covers a single concern. They're numbered so there's a natural order: types first, then services, then controllers, then frontend components. And they feed directly into an implementation plan that AI agents can execute task by task.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The Workflow</a:t>
            </a:r>
          </a:p>
          <a:p/>
          <a:p>
            <a:r>
              <a:t>Here's the full SDD workflow in four phases. Let me walk through each one.</a:t>
            </a:r>
          </a:p>
          <a:p/>
          <a:p>
            <a:r>
              <a:t>Phase 1 is SPECIFY. This is where you do all your thinking. You start with a project overview — what's the architecture? What's the tech stack? What does the file structure look like? Then you define your shared types — these are the contracts that every part of the system agrees on. Next you spec each backend service: what methods does it have, what does each method do? Then frontend components: what are the props, what's the behavior, what does it look like? And finally, cross-cutting concerns — data flow diagrams, error handling tables, edge cases.</a:t>
            </a:r>
          </a:p>
          <a:p/>
          <a:p>
            <a:r>
              <a:t>In our project, this phase produced 14 specification files totaling over 1,000 lines. That's 1,000 lines of design thinking — before a single line of code.</a:t>
            </a:r>
          </a:p>
          <a:p/>
          <a:p>
            <a:r>
              <a:t>Phase 2 is PLAN. Once you have specs, you create an implementation plan. This is a task list — not another design document. It includes a file map showing every file that needs to be created, numbered tasks with checkboxes, code snippets for critical configurations like package.json or tsconfig, and review checkpoints between tasks.</a:t>
            </a:r>
          </a:p>
          <a:p/>
          <a:p>
            <a:r>
              <a:t>The plan is what you actually hand to AI agents. It says: "Here's task 1 — create these three files with these contents. Here's task 2 — implement this service following spec 04."</a:t>
            </a:r>
          </a:p>
          <a:p/>
          <a:p>
            <a:r>
              <a:t>Phase 3 is IMPLEMENT. This is where AI agents do the heavy lifting. They execute the plan task by task. Because specs are atomic and independent, you can have multiple agents working in parallel — one building the backend service while another builds the frontend component. Each task produces working, testable code. After each task, there's a checkpoint to verify before moving on.</a:t>
            </a:r>
          </a:p>
          <a:p/>
          <a:p>
            <a:r>
              <a:t>Phase 4 is VERIFY. You run your tests. You compare the implementation against the specs. Do the data flows match? Is error handling working as documented? And importantly — if the implementation added things beyond the spec, you need to decide: update the spec to match, or revert the code to match the spec.</a:t>
            </a:r>
          </a:p>
          <a:p/>
          <a:p>
            <a:r>
              <a:t>This last phase is where we learned some hard lessons in our project — which I'll show you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Anatomy of a Good Spec</a:t>
            </a:r>
          </a:p>
          <a:p/>
          <a:p>
            <a:r>
              <a:t>This slide is your cheat sheet. When you sit down to write a spec, here's what you must include, and what you must avoid.</a:t>
            </a:r>
          </a:p>
          <a:p/>
          <a:p>
            <a:r>
              <a:t>On the left — must include. Start with the file path. Don't say "the story service." Say "backend/src/story/story.service.ts." This removes all ambiguity about where the code goes.</a:t>
            </a:r>
          </a:p>
          <a:p/>
          <a:p>
            <a:r>
              <a:t>Next, dependencies. What does this module import? What does it inject? In NestJS, we specify "Inject AgentsService" and "Private field: sessions equals new Map." The AI knows exactly what to set up.</a:t>
            </a:r>
          </a:p>
          <a:p/>
          <a:p>
            <a:r>
              <a:t>Type definitions with field-level comments. Not just "interface StoryEvent" but every field with its type and a note about what it means — "turn: number, current sentence number, 1 through 15."</a:t>
            </a:r>
          </a:p>
          <a:p/>
          <a:p>
            <a:r>
              <a:t>Method signatures — the name, every parameter with its type, the return type. "createSession takes no arguments, returns a StorySession."</a:t>
            </a:r>
          </a:p>
          <a:p/>
          <a:p>
            <a:r>
              <a:t>Behavior — step-by-step logic. Not "handles session creation" but "generate a UUID with crypto.randomUUID, create a new StorySession with that ID, store it in the sessions Map, return the session." Four concrete steps.</a:t>
            </a:r>
          </a:p>
          <a:p/>
          <a:p>
            <a:r>
              <a:t>And edge cases. What happens when you call getSession with an ID that doesn't exist? "Throw NotFoundException." If you don't spec this, the AI might return null, or throw a generic error, or crash.</a:t>
            </a:r>
          </a:p>
          <a:p/>
          <a:p>
            <a:r>
              <a:t>On the right — must avoid. Vague descriptions like "handles the data" tell the AI nothing. Missing types lead to the backend using one shape and the frontend using another. Implicit assumptions are the biggest trap — "obviously it should retry on failure" is not obvious to an AI. And over-specification — don't write every line of code in the spec. Spec the what and let the AI figure out the syntax.</a:t>
            </a:r>
          </a:p>
          <a:p/>
          <a:p>
            <a:r>
              <a:t>At the bottom you can see a real example from our project. Three methods, each with clear inputs, outputs, and behavior. This is the level of detail that gets you correct code on the first 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Why SDD for AI Development?</a:t>
            </a:r>
          </a:p>
          <a:p/>
          <a:p>
            <a:r>
              <a:t>Now let me explain why this matters specifically for AI-assisted development. There are six key benefits.</a:t>
            </a:r>
          </a:p>
          <a:p/>
          <a:p>
            <a:r>
              <a:t>First — Precise Instructions. This is the most important one. AI agents are incredibly capable, but they need clear direction. A vague prompt produces variable output. A detailed spec produces deterministic output. The same spec given to different agents — or the same agent at different times — will produce functionally equivalent code. That's huge for reliability.</a:t>
            </a:r>
          </a:p>
          <a:p/>
          <a:p>
            <a:r>
              <a:t>Second — Parallel Execution. This is where SDD really shines. Because each spec is atomic and independent, you can have multiple AI agents working simultaneously. In our project, we could have one agent implementing the StoryService on the backend while another agent builds the ChatBubble component on the frontend. They don't conflict because they're working from independent specs with shared types. This cuts implementation time dramatically.</a:t>
            </a:r>
          </a:p>
          <a:p/>
          <a:p>
            <a:r>
              <a:t>Third — Easy Verification. This is the review story. When an AI produces code, how do you know it's right? With SDD, you compare the output against the spec. Does createSession generate a UUID? Check. Does it store in a Map? Check. Does it return the session? Check. Deviations are immediately visible. You're not evaluating vibes — you're checking facts.</a:t>
            </a:r>
          </a:p>
          <a:p/>
          <a:p>
            <a:r>
              <a:t>Fourth — Reduced Iterations. This goes back to the problem slide. Without specs, you're in a loop: prompt, wrong output, fix, repeat. With specs, it's: write spec, get correct output, make minor adjustments, done. The upfront investment in writing specs pays back 10x in reduced iteration time.</a:t>
            </a:r>
          </a:p>
          <a:p/>
          <a:p>
            <a:r>
              <a:t>Fifth — Built-in Documentation. Here's a bonus that's often overlooked: your specs ARE your documentation. When a new team member joins — whether human or AI — they can read the specs and understand the entire system without reverse-engineering the code. You don't need to maintain separate docs because the specs already describe everything.</a:t>
            </a:r>
          </a:p>
          <a:p/>
          <a:p>
            <a:r>
              <a:t>Sixth — Knowledge Transfer. Specs outlive any single AI conversation. When you close a chat window with an AI, the conversation context is gone. But the specs remain. They capture every design decision permanently. Next time you (or anyone else) needs to modify the system, the specs tell them exactly how it was designed and why.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7: Real-World Example</a:t>
            </a:r>
          </a:p>
          <a:p/>
          <a:p>
            <a:r>
              <a:t>Now let me show you a real project we built using SDD. This is a multi-agent AI storytelling application where two AI characters — Luna and Oak — have a real-time conversation that streams to the browser.</a:t>
            </a:r>
          </a:p>
          <a:p/>
          <a:p>
            <a:r>
              <a:t>Let's look at the numbers. We wrote 14 specification files — that's 14 individual documents, each covering one specific part of the system. Together, those specs total over 1,037 lines of design thinking.</a:t>
            </a:r>
          </a:p>
          <a:p/>
          <a:p>
            <a:r>
              <a:t>Our SDD process score is 9 out of 10 — we followed the methodology very well: specs before code, atomic numbering, shared types early, implementation plan with checkboxes — all of it.</a:t>
            </a:r>
          </a:p>
          <a:p/>
          <a:p>
            <a:r>
              <a:t>But here's the honest part — our spec-to-code fidelity is about 70 percent. That means 30 percent of the implementation diverges from what was originally specified. I'll go deeper into that in a moment, because the lessons from those divergences are actually the most valuable part of this presentation.</a:t>
            </a:r>
          </a:p>
          <a:p/>
          <a:p>
            <a:r>
              <a:t>On the left you can see the spec file structure. Notice the numbering — 00 through 13. The overview comes first. Then shared types. Then backend services in dependency order. Then frontend components. And finally, cross-cutting data flow and error handling.</a:t>
            </a:r>
          </a:p>
          <a:p/>
          <a:p>
            <a:r>
              <a:t>On the right is the architecture diagram — pulled directly from spec 00. This shows the exact HTTP routes, the backend service hierarchy, and the Groq API integration. Every arrow, every route, every component name was defined before writing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8: From Spec to Code — What Matched</a:t>
            </a:r>
          </a:p>
          <a:p/>
          <a:p>
            <a:r>
              <a:t>Now let's look at the results side by side. This is the most satisfying part of SDD.</a:t>
            </a:r>
          </a:p>
          <a:p/>
          <a:p>
            <a:r>
              <a:t>On the left is our specification for shared types — spec file 01. You can see the StoryEvent interface with seven fields: turn, total, character, color, bgColor, text, and isFinal. Each field has a comment explaining what it means.</a:t>
            </a:r>
          </a:p>
          <a:p/>
          <a:p>
            <a:r>
              <a:t>On the right is the actual implementation — the story.types.ts file that was generated from this spec. Look at how they match. Every field name is identical. Every type is identical. The only difference is semicolons — which is a formatting preference, not a deviation.</a:t>
            </a:r>
          </a:p>
          <a:p/>
          <a:p>
            <a:r>
              <a:t>The result: exact match. Zero deviation from specification. This is what SDD delivers when the spec is clear.</a:t>
            </a:r>
          </a:p>
          <a:p/>
          <a:p>
            <a:r>
              <a:t>And it's not just the types. At the bottom, you can see three components that achieved perfect spec compliance. ProgressBar — every prop, every color value, every calculation matches the spec exactly. Controls — all four buttons, all disabled states, the status text — perfect match. RedirectInput — props, submit-on-enter, button click handler, disabled styling — all match.</a:t>
            </a:r>
          </a:p>
          <a:p/>
          <a:p>
            <a:r>
              <a:t>These are the components where SDD worked flawlessly. The spec was clear, the AI followed it precisely, and the output was correct on the first pass.</a:t>
            </a:r>
          </a:p>
          <a:p/>
          <a:p>
            <a:r>
              <a:t>But not everything was this clean. Let me show you what happened when discipline broke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9: Where Specs Broke Down</a:t>
            </a:r>
          </a:p>
          <a:p/>
          <a:p>
            <a:r>
              <a:t>This is the most important slide in the presentation. Because SDD isn't just about the happy path — it's about what happens when discipline breaks down. And in our project, it did break down in some significant ways.</a:t>
            </a:r>
          </a:p>
          <a:p/>
          <a:p>
            <a:r>
              <a:t>Top left — theme changed without updating specs. The original spec described Luna as a "curious young wizard exploring an enchanted forest" and Oak as an "ancient talking tree, 500 years old, wise, slow, mysterious." Beautiful fantasy theme. But during development, the character prompts were completely rewritten. Luna became "a friendly and curious person" and Oak became "a warm and thoughtful person." The app title changed from "The Enchanted Forest" to "Conversation Game." But the specs? They still say enchanted forest. They still say wizard and tree.</a:t>
            </a:r>
          </a:p>
          <a:p/>
          <a:p>
            <a:r>
              <a:t>Top right — features added without specs. This is the bigger problem. A complete mood system was implemented — new types like MoodPayload, new fields on the session class, a new setMoods method on the service, a new POST endpoint on the controller, a new MoodSelector React component, and mood injection into the AI prompts. That's a full-stack feature touching every layer of the application. And there's not a single spec for any of it. No spec file 14-mood-system.md exists. It was just... added.</a:t>
            </a:r>
          </a:p>
          <a:p/>
          <a:p>
            <a:r>
              <a:t>Bottom left — timing values changed silently. The spec says 600 milliseconds between story turns. The implementation does 3000 milliseconds — that's five times slower. The spec says 80 milliseconds per word for the typewriter effect. The code does 150 milliseconds — nearly twice as slow. The specs still show the original values. Anyone reading them would get the wrong picture.</a:t>
            </a:r>
          </a:p>
          <a:p/>
          <a:p>
            <a:r>
              <a:t>Bottom right — the root cause. In all three cases, the problem is the same: specs were treated as initial design documents, not living documents. Once the code was written, changes were made directly to the code without updating the specs. Over time, the specs became stale — they describe the original design, not the current implementation.</a:t>
            </a:r>
          </a:p>
          <a:p/>
          <a:p>
            <a:r>
              <a:t>And that leads to the lesson at the bottom: a spec that doesn't match the code is worse than no spec at all. Because it actively misleads. If a new developer reads spec 03 and sees "curious young wizard," they'll be confused when the code says "friendly person." The spec creates false expectations.</a:t>
            </a:r>
          </a:p>
          <a:p/>
          <a:p>
            <a:r>
              <a:t>The takeaway: when you change the code, update the spec. When you add a feature, write a spec first. Specs are not write-once documents.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10: SDD vs Other Approaches</a:t>
            </a:r>
          </a:p>
          <a:p/>
          <a:p>
            <a:r>
              <a:t>Let's put SDD in context by comparing it to two other common approaches: prompt-driven and test-driven development.</a:t>
            </a:r>
          </a:p>
          <a:p/>
          <a:p>
            <a:r>
              <a:t>Looking at this table row by row.</a:t>
            </a:r>
          </a:p>
          <a:p/>
          <a:p>
            <a:r>
              <a:t>Upfront investment. SDD is high — you're writing detailed specs before any code. Prompt-driven is low — you just type a sentence and go. Test-driven is medium — you write tests first, which takes some upfront effort. So yes, SDD requires the most initial work. But look at what you get for it.</a:t>
            </a:r>
          </a:p>
          <a:p/>
          <a:p>
            <a:r>
              <a:t>AI output quality. SDD gives you high-quality, precise output because the AI has unambiguous instructions. Prompt-driven gives you variable quality — it depends entirely on how good your prompt is, and most prompts are too vague. Test-driven gives you medium quality — the tests constrain the output, but they don't tell the AI how to structure the code or what patterns to use.</a:t>
            </a:r>
          </a:p>
          <a:p/>
          <a:p>
            <a:r>
              <a:t>Parallelization — this is a game-changer. With SDD, you get excellent parallelization because each spec is independent. You can have five agents working on five specs simultaneously. With prompt-driven, it's poor — you're typically having one sequential conversation. With TDD, it's good — you can split by test suites.</a:t>
            </a:r>
          </a:p>
          <a:p/>
          <a:p>
            <a:r>
              <a:t>Documentation. SDD gives you built-in documentation — the specs ARE the docs. Prompt-driven gives you nothing — your prompts are gone when you close the chat. TDD gives you tests as partial documentation — but tests describe behavior, not architecture or intent.</a:t>
            </a:r>
          </a:p>
          <a:p/>
          <a:p>
            <a:r>
              <a:t>Iteration cycles. SDD needs few iterations because the spec is clear upfront. Prompt-driven often requires many rounds of back-and-forth. TDD is somewhere in between.</a:t>
            </a:r>
          </a:p>
          <a:p/>
          <a:p>
            <a:r>
              <a:t>Scalability. SDD scales excellently to large, multi-component systems. Prompt-driven falls apart with complexity — you can't fit a whole system into one prompt. TDD scales well for algorithms but less well for full-stack architecture.</a:t>
            </a:r>
          </a:p>
          <a:p/>
          <a:p>
            <a:r>
              <a:t>Best for. SDD is best for multi-component systems — like our full-stack app with backend, frontend, types, and real-time streaming. Prompt-driven is best for small, one-off tasks — write a function, explain this code. TDD is best for well-defined algorithms where you can clearly specify expected inputs and outputs.</a:t>
            </a:r>
          </a:p>
          <a:p/>
          <a:p>
            <a:r>
              <a:t>These approaches aren't mutually exclusive. You can combine SDD with TDD — write specs first, then write tests from those specs, then implement. That gives you the best of both worlds.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11: How to Get Started</a:t>
            </a:r>
          </a:p>
          <a:p/>
          <a:p>
            <a:r>
              <a:t>Alright, you're convinced. How do you actually start doing this? Here are six steps.</a:t>
            </a:r>
          </a:p>
          <a:p/>
          <a:p>
            <a:r>
              <a:t>Step 1 — Define your feature. Before anything else, write one paragraph. What are you building? What's the tech stack? For our project, that paragraph was: "Two AI agents collaboratively tell a story in real time that ends in exactly 15 sentences. NestJS backend, React frontend, Groq API, Server-Sent Events." That's it. One paragraph. But it anchors everything that follows.</a:t>
            </a:r>
          </a:p>
          <a:p/>
          <a:p>
            <a:r>
              <a:t>Step 2 — Write the project overview spec. This is your north star document. It includes an architecture diagram showing how the pieces fit together, the file structure showing where everything lives, the dependencies, and how to run it. In our project, this was spec 00 — 125 lines covering architecture, file structure, tech stack, and environment setup.</a:t>
            </a:r>
          </a:p>
          <a:p/>
          <a:p>
            <a:r>
              <a:t>Step 3 — Define shared types. This is arguably the most important step. Types are contracts. When the backend sends a StoryEvent and the frontend receives a StoryEvent, they better agree on what that looks like. In our project, spec 01 defined three interfaces — StoryEvent, StoryStatus, and RedirectPayload — and we copied them to both backend and frontend. These types never diverged.</a:t>
            </a:r>
          </a:p>
          <a:p/>
          <a:p>
            <a:r>
              <a:t>Step 4 — Spec each component. This is the bulk of the work. You write one spec file per service, controller, hook, or UI component. Each spec includes the file path, dependencies, method signatures, and step-by-step behavior. In our project, specs 02 through 12 each covered one specific piece. The key is to make each spec self-contained and independently implementable.</a:t>
            </a:r>
          </a:p>
          <a:p/>
          <a:p>
            <a:r>
              <a:t>Step 5 — Add a data flow and error handling spec. This is the cross-cutting document that ties everything together. It shows: when the user clicks "Begin Story," what HTTP request fires? What's the response? What happens next? What happens on error? What happens on the last turn? This is often the spec people skip — and it's usually the one that catches the most bugs before code is written.</a:t>
            </a:r>
          </a:p>
          <a:p/>
          <a:p>
            <a:r>
              <a:t>Step 6 — Create the implementation plan. This is the task list you hand to AI agents. It includes a file map, ordered tasks with checkboxes, code snippets for critical configurations, and review checkpoints between tasks. The plan is NOT another design document — it's an execution document. "Task 1: create these files. Task 2: implement this service per spec 04. Task 3: build this component per spec 07."</a:t>
            </a:r>
          </a:p>
          <a:p/>
          <a:p>
            <a:r>
              <a:t>Start small. Pick your next feature. Write specs for it. See how it changes the quality of your AI-generated code. I think you'll be surprised.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12: Key Takeaways</a:t>
            </a:r>
          </a:p>
          <a:p/>
          <a:p>
            <a:r>
              <a:t>Let me leave you with four takeaways.</a:t>
            </a:r>
          </a:p>
          <a:p/>
          <a:p>
            <a:r>
              <a:t>Number one — specs are precise prompts for AI. Think of a spec as the ultimate prompt. When you write a prompt in ChatGPT, you get variable results. When you write a detailed spec, you get precise results. The investment ratio is clear: spend an hour writing specs, save five hours of iteration.</a:t>
            </a:r>
          </a:p>
          <a:p/>
          <a:p>
            <a:r>
              <a:t>Number two — atomic specs enable parallel work. This is the scalability argument. When each spec is independent and self-contained, you can dispatch multiple AI agents — or multiple human developers — to work on different parts simultaneously. In our project, the backend and frontend could be built in parallel because the specs defined the contract between them: the shared types. As long as both sides implement the same interfaces, they'll work together.</a:t>
            </a:r>
          </a:p>
          <a:p/>
          <a:p>
            <a:r>
              <a:t>Number three — and this is the lesson from our audit — specs must be living documents. We learned this the hard way. Our specs described an enchanted forest with wizards and talking trees. Our code described a casual conversation game. That gap is a problem. When the code changes, the spec must change. When you want to add a new feature, write the spec before the code. A stale spec is worse than no spec because it creates false confidence.</a:t>
            </a:r>
          </a:p>
          <a:p/>
          <a:p>
            <a:r>
              <a:t>Number four — verify against specs, not vibes. Code review with SDD becomes objective. You're not asking "does this look good?" — you're asking "does createSession generate a UUID, store it in the Map, and return the session?" Yes or no. Does the pacing match 600ms? No, it's 3000ms — that's a deviation. Decide if it's intentional, and if so, update the spec. This removes subjectivity from code review entirely.</a:t>
            </a:r>
          </a:p>
          <a:p/>
          <a:p>
            <a:r>
              <a:t>Take these four ideas with you. Start with your next feature. Write the specs. Let AI build it. Review against the specs. And keep those specs up to 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13: Closing</a:t>
            </a:r>
          </a:p>
          <a:p/>
          <a:p>
            <a:r>
              <a:t>And that's it. Spec first. Build right.</a:t>
            </a:r>
          </a:p>
          <a:p/>
          <a:p>
            <a:r>
              <a:t>The four-line summary on screen captures the entire methodology: Write detailed specs — invest the time upfront. Let AI agents build — they're great at following precise instructions. Review against specs — make verification objective. And keep specs alive — this is the lesson we learned. A living spec is a powerful tool. A stale spec is a liability.</a:t>
            </a:r>
          </a:p>
          <a:p/>
          <a:p>
            <a:r>
              <a:t>I'm happy to take any questions. If you want to see the actual specs, the implementation, and the full audit report, I can share the repository and documentation.</a:t>
            </a:r>
          </a:p>
          <a:p/>
          <a:p>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914400"/>
          </a:xfrm>
          <a:prstGeom prst="rect">
            <a:avLst/>
          </a:prstGeom>
          <a:noFill/>
        </p:spPr>
        <p:txBody>
          <a:bodyPr wrap="square">
            <a:spAutoFit/>
          </a:bodyPr>
          <a:lstStyle/>
          <a:p>
            <a:pPr algn="ctr">
              <a:defRPr sz="4800" b="1">
                <a:solidFill>
                  <a:srgbClr val="FFFFFF"/>
                </a:solidFill>
                <a:latin typeface="Calibri"/>
              </a:defRPr>
            </a:pPr>
            <a:r>
              <a:t>SPEC-DRIVEN DEVELOPMENT</a:t>
            </a:r>
          </a:p>
        </p:txBody>
      </p:sp>
      <p:sp>
        <p:nvSpPr>
          <p:cNvPr id="4" name="TextBox 3"/>
          <p:cNvSpPr txBox="1"/>
          <p:nvPr/>
        </p:nvSpPr>
        <p:spPr>
          <a:xfrm>
            <a:off x="914400" y="2743200"/>
            <a:ext cx="10058400" cy="731520"/>
          </a:xfrm>
          <a:prstGeom prst="rect">
            <a:avLst/>
          </a:prstGeom>
          <a:noFill/>
        </p:spPr>
        <p:txBody>
          <a:bodyPr wrap="square">
            <a:spAutoFit/>
          </a:bodyPr>
          <a:lstStyle/>
          <a:p>
            <a:pPr algn="ctr">
              <a:defRPr sz="2800" b="0">
                <a:solidFill>
                  <a:srgbClr val="0096D6"/>
                </a:solidFill>
                <a:latin typeface="Calibri"/>
              </a:defRPr>
            </a:pPr>
            <a:r>
              <a:t>Building Better Software with AI Agents</a:t>
            </a:r>
          </a:p>
        </p:txBody>
      </p:sp>
      <p:sp>
        <p:nvSpPr>
          <p:cNvPr id="5" name="TextBox 4"/>
          <p:cNvSpPr txBox="1"/>
          <p:nvPr/>
        </p:nvSpPr>
        <p:spPr>
          <a:xfrm>
            <a:off x="914400" y="3840480"/>
            <a:ext cx="10058400" cy="457200"/>
          </a:xfrm>
          <a:prstGeom prst="rect">
            <a:avLst/>
          </a:prstGeom>
          <a:noFill/>
        </p:spPr>
        <p:txBody>
          <a:bodyPr wrap="square">
            <a:spAutoFit/>
          </a:bodyPr>
          <a:lstStyle/>
          <a:p>
            <a:pPr algn="ctr">
              <a:defRPr sz="1800" b="0">
                <a:solidFill>
                  <a:srgbClr val="999999"/>
                </a:solidFill>
                <a:latin typeface="Calibri"/>
              </a:defRPr>
            </a:pPr>
            <a:r>
              <a:t>Write the spec. Let AI build it right.</a:t>
            </a:r>
          </a:p>
        </p:txBody>
      </p:sp>
      <p:sp>
        <p:nvSpPr>
          <p:cNvPr id="6" name="Rectangle 5"/>
          <p:cNvSpPr/>
          <p:nvPr/>
        </p:nvSpPr>
        <p:spPr>
          <a:xfrm>
            <a:off x="4114800" y="3566160"/>
            <a:ext cx="3657600" cy="2540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FF5C5C"/>
                </a:solidFill>
                <a:latin typeface="Calibri"/>
              </a:defRPr>
            </a:pPr>
            <a:r>
              <a:t>THE PROBLEM</a:t>
            </a:r>
          </a:p>
        </p:txBody>
      </p:sp>
      <p:sp>
        <p:nvSpPr>
          <p:cNvPr id="4" name="TextBox 3"/>
          <p:cNvSpPr txBox="1"/>
          <p:nvPr/>
        </p:nvSpPr>
        <p:spPr>
          <a:xfrm>
            <a:off x="731520" y="1097280"/>
            <a:ext cx="10058400" cy="457200"/>
          </a:xfrm>
          <a:prstGeom prst="rect">
            <a:avLst/>
          </a:prstGeom>
          <a:noFill/>
        </p:spPr>
        <p:txBody>
          <a:bodyPr wrap="square">
            <a:spAutoFit/>
          </a:bodyPr>
          <a:lstStyle/>
          <a:p>
            <a:pPr algn="l">
              <a:defRPr sz="2000" b="0">
                <a:solidFill>
                  <a:srgbClr val="CCCCCC"/>
                </a:solidFill>
                <a:latin typeface="Calibri"/>
              </a:defRPr>
            </a:pPr>
            <a:r>
              <a:t>What happens when you give AI vague instructions?</a:t>
            </a:r>
          </a:p>
        </p:txBody>
      </p:sp>
      <p:sp>
        <p:nvSpPr>
          <p:cNvPr id="5" name="Rectangle 4"/>
          <p:cNvSpPr/>
          <p:nvPr/>
        </p:nvSpPr>
        <p:spPr>
          <a:xfrm>
            <a:off x="731520" y="2011680"/>
            <a:ext cx="5029200" cy="4114800"/>
          </a:xfrm>
          <a:prstGeom prst="rect">
            <a:avLst/>
          </a:prstGeom>
          <a:solidFill>
            <a:srgbClr val="24243E"/>
          </a:solidFill>
          <a:ln w="2540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11680"/>
            <a:ext cx="54864" cy="4114800"/>
          </a:xfrm>
          <a:prstGeom prst="rect">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4663440" cy="365760"/>
          </a:xfrm>
          <a:prstGeom prst="rect">
            <a:avLst/>
          </a:prstGeom>
          <a:noFill/>
        </p:spPr>
        <p:txBody>
          <a:bodyPr wrap="square">
            <a:spAutoFit/>
          </a:bodyPr>
          <a:lstStyle/>
          <a:p>
            <a:pPr algn="l">
              <a:defRPr sz="1600" b="1">
                <a:solidFill>
                  <a:srgbClr val="FF5C5C"/>
                </a:solidFill>
                <a:latin typeface="Calibri"/>
              </a:defRPr>
            </a:pPr>
            <a:r>
              <a:t>WITHOUT SPEC-DRIVEN DEVELOPMENT</a:t>
            </a:r>
          </a:p>
        </p:txBody>
      </p:sp>
      <p:sp>
        <p:nvSpPr>
          <p:cNvPr id="8" name="TextBox 7"/>
          <p:cNvSpPr txBox="1"/>
          <p:nvPr/>
        </p:nvSpPr>
        <p:spPr>
          <a:xfrm>
            <a:off x="1005840" y="2514600"/>
            <a:ext cx="4663440" cy="320040"/>
          </a:xfrm>
          <a:prstGeom prst="rect">
            <a:avLst/>
          </a:prstGeom>
          <a:noFill/>
        </p:spPr>
        <p:txBody>
          <a:bodyPr wrap="square">
            <a:spAutoFit/>
          </a:bodyPr>
          <a:lstStyle/>
          <a:p>
            <a:pPr algn="l">
              <a:defRPr sz="1300" b="0">
                <a:solidFill>
                  <a:srgbClr val="CCCCCC"/>
                </a:solidFill>
                <a:latin typeface="Calibri"/>
              </a:defRPr>
            </a:pPr>
            <a:r>
              <a:t>"Build a story app with two AI characters"</a:t>
            </a:r>
          </a:p>
        </p:txBody>
      </p:sp>
      <p:sp>
        <p:nvSpPr>
          <p:cNvPr id="9" name="TextBox 8"/>
          <p:cNvSpPr txBox="1"/>
          <p:nvPr/>
        </p:nvSpPr>
        <p:spPr>
          <a:xfrm>
            <a:off x="1005840" y="2788920"/>
            <a:ext cx="4663440" cy="320040"/>
          </a:xfrm>
          <a:prstGeom prst="rect">
            <a:avLst/>
          </a:prstGeom>
          <a:noFill/>
        </p:spPr>
        <p:txBody>
          <a:bodyPr wrap="square">
            <a:spAutoFit/>
          </a:bodyPr>
          <a:lstStyle/>
          <a:p>
            <a:pPr algn="l">
              <a:defRPr sz="1300" b="0">
                <a:solidFill>
                  <a:srgbClr val="CCCCCC"/>
                </a:solidFill>
                <a:latin typeface="Calibri"/>
              </a:defRPr>
            </a:pPr>
          </a:p>
        </p:txBody>
      </p:sp>
      <p:sp>
        <p:nvSpPr>
          <p:cNvPr id="10" name="TextBox 9"/>
          <p:cNvSpPr txBox="1"/>
          <p:nvPr/>
        </p:nvSpPr>
        <p:spPr>
          <a:xfrm>
            <a:off x="1005840" y="3063240"/>
            <a:ext cx="4663440" cy="320040"/>
          </a:xfrm>
          <a:prstGeom prst="rect">
            <a:avLst/>
          </a:prstGeom>
          <a:noFill/>
        </p:spPr>
        <p:txBody>
          <a:bodyPr wrap="square">
            <a:spAutoFit/>
          </a:bodyPr>
          <a:lstStyle/>
          <a:p>
            <a:pPr algn="l">
              <a:defRPr sz="1300" b="0">
                <a:solidFill>
                  <a:srgbClr val="CCCCCC"/>
                </a:solidFill>
                <a:latin typeface="Calibri"/>
              </a:defRPr>
            </a:pPr>
            <a:r>
              <a:t>AI makes hundreds of unguided decisions</a:t>
            </a:r>
          </a:p>
        </p:txBody>
      </p:sp>
      <p:sp>
        <p:nvSpPr>
          <p:cNvPr id="11" name="TextBox 10"/>
          <p:cNvSpPr txBox="1"/>
          <p:nvPr/>
        </p:nvSpPr>
        <p:spPr>
          <a:xfrm>
            <a:off x="1005840" y="3337560"/>
            <a:ext cx="4663440" cy="320040"/>
          </a:xfrm>
          <a:prstGeom prst="rect">
            <a:avLst/>
          </a:prstGeom>
          <a:noFill/>
        </p:spPr>
        <p:txBody>
          <a:bodyPr wrap="square">
            <a:spAutoFit/>
          </a:bodyPr>
          <a:lstStyle/>
          <a:p>
            <a:pPr algn="l">
              <a:defRPr sz="1300" b="0">
                <a:solidFill>
                  <a:srgbClr val="CCCCCC"/>
                </a:solidFill>
                <a:latin typeface="Calibri"/>
              </a:defRPr>
            </a:pPr>
            <a:r>
              <a:t>Output doesn't match your mental model</a:t>
            </a:r>
          </a:p>
        </p:txBody>
      </p:sp>
      <p:sp>
        <p:nvSpPr>
          <p:cNvPr id="12" name="TextBox 11"/>
          <p:cNvSpPr txBox="1"/>
          <p:nvPr/>
        </p:nvSpPr>
        <p:spPr>
          <a:xfrm>
            <a:off x="1005840" y="3611880"/>
            <a:ext cx="4663440" cy="320040"/>
          </a:xfrm>
          <a:prstGeom prst="rect">
            <a:avLst/>
          </a:prstGeom>
          <a:noFill/>
        </p:spPr>
        <p:txBody>
          <a:bodyPr wrap="square">
            <a:spAutoFit/>
          </a:bodyPr>
          <a:lstStyle/>
          <a:p>
            <a:pPr algn="l">
              <a:defRPr sz="1300" b="0">
                <a:solidFill>
                  <a:srgbClr val="CCCCCC"/>
                </a:solidFill>
                <a:latin typeface="Calibri"/>
              </a:defRPr>
            </a:pPr>
            <a:r>
              <a:t>Endless back-and-forth corrections</a:t>
            </a:r>
          </a:p>
        </p:txBody>
      </p:sp>
      <p:sp>
        <p:nvSpPr>
          <p:cNvPr id="13" name="TextBox 12"/>
          <p:cNvSpPr txBox="1"/>
          <p:nvPr/>
        </p:nvSpPr>
        <p:spPr>
          <a:xfrm>
            <a:off x="1005840" y="3886200"/>
            <a:ext cx="4663440" cy="320040"/>
          </a:xfrm>
          <a:prstGeom prst="rect">
            <a:avLst/>
          </a:prstGeom>
          <a:noFill/>
        </p:spPr>
        <p:txBody>
          <a:bodyPr wrap="square">
            <a:spAutoFit/>
          </a:bodyPr>
          <a:lstStyle/>
          <a:p>
            <a:pPr algn="l">
              <a:defRPr sz="1300" b="0">
                <a:solidFill>
                  <a:srgbClr val="CCCCCC"/>
                </a:solidFill>
                <a:latin typeface="Calibri"/>
              </a:defRPr>
            </a:pPr>
            <a:r>
              <a:t>Each correction introduces new issues</a:t>
            </a:r>
          </a:p>
        </p:txBody>
      </p:sp>
      <p:sp>
        <p:nvSpPr>
          <p:cNvPr id="14" name="TextBox 13"/>
          <p:cNvSpPr txBox="1"/>
          <p:nvPr/>
        </p:nvSpPr>
        <p:spPr>
          <a:xfrm>
            <a:off x="1005840" y="4160520"/>
            <a:ext cx="4663440" cy="320040"/>
          </a:xfrm>
          <a:prstGeom prst="rect">
            <a:avLst/>
          </a:prstGeom>
          <a:noFill/>
        </p:spPr>
        <p:txBody>
          <a:bodyPr wrap="square">
            <a:spAutoFit/>
          </a:bodyPr>
          <a:lstStyle/>
          <a:p>
            <a:pPr algn="l">
              <a:defRPr sz="1300" b="0">
                <a:solidFill>
                  <a:srgbClr val="CCCCCC"/>
                </a:solidFill>
                <a:latin typeface="Calibri"/>
              </a:defRPr>
            </a:pPr>
            <a:r>
              <a:t>Hours lost to iteration cycles</a:t>
            </a:r>
          </a:p>
        </p:txBody>
      </p:sp>
      <p:sp>
        <p:nvSpPr>
          <p:cNvPr id="15" name="TextBox 14"/>
          <p:cNvSpPr txBox="1"/>
          <p:nvPr/>
        </p:nvSpPr>
        <p:spPr>
          <a:xfrm>
            <a:off x="1005840" y="4434840"/>
            <a:ext cx="4663440" cy="320040"/>
          </a:xfrm>
          <a:prstGeom prst="rect">
            <a:avLst/>
          </a:prstGeom>
          <a:noFill/>
        </p:spPr>
        <p:txBody>
          <a:bodyPr wrap="square">
            <a:spAutoFit/>
          </a:bodyPr>
          <a:lstStyle/>
          <a:p>
            <a:pPr algn="l">
              <a:defRPr sz="1300" b="0">
                <a:solidFill>
                  <a:srgbClr val="CCCCCC"/>
                </a:solidFill>
                <a:latin typeface="Calibri"/>
              </a:defRPr>
            </a:pPr>
          </a:p>
        </p:txBody>
      </p:sp>
      <p:sp>
        <p:nvSpPr>
          <p:cNvPr id="16" name="TextBox 15"/>
          <p:cNvSpPr txBox="1"/>
          <p:nvPr/>
        </p:nvSpPr>
        <p:spPr>
          <a:xfrm>
            <a:off x="1005840" y="4709160"/>
            <a:ext cx="4663440" cy="320040"/>
          </a:xfrm>
          <a:prstGeom prst="rect">
            <a:avLst/>
          </a:prstGeom>
          <a:noFill/>
        </p:spPr>
        <p:txBody>
          <a:bodyPr wrap="square">
            <a:spAutoFit/>
          </a:bodyPr>
          <a:lstStyle/>
          <a:p>
            <a:pPr algn="l">
              <a:defRPr sz="1300" b="0">
                <a:solidFill>
                  <a:srgbClr val="CCCCCC"/>
                </a:solidFill>
                <a:latin typeface="Calibri"/>
              </a:defRPr>
            </a:pPr>
            <a:r>
              <a:t>Prompt -&gt; Wrong output -&gt; Fix -&gt; Repeat...</a:t>
            </a:r>
          </a:p>
        </p:txBody>
      </p:sp>
      <p:sp>
        <p:nvSpPr>
          <p:cNvPr id="17" name="Rectangle 16"/>
          <p:cNvSpPr/>
          <p:nvPr/>
        </p:nvSpPr>
        <p:spPr>
          <a:xfrm>
            <a:off x="6400800" y="2011680"/>
            <a:ext cx="5029200" cy="4114800"/>
          </a:xfrm>
          <a:prstGeom prst="rect">
            <a:avLst/>
          </a:prstGeom>
          <a:solidFill>
            <a:srgbClr val="24243E"/>
          </a:solidFill>
          <a:ln w="25400">
            <a:solidFill>
              <a:srgbClr val="00C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2011680"/>
            <a:ext cx="54864" cy="4114800"/>
          </a:xfrm>
          <a:prstGeom prst="rect">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2148840"/>
            <a:ext cx="4663440" cy="365760"/>
          </a:xfrm>
          <a:prstGeom prst="rect">
            <a:avLst/>
          </a:prstGeom>
          <a:noFill/>
        </p:spPr>
        <p:txBody>
          <a:bodyPr wrap="square">
            <a:spAutoFit/>
          </a:bodyPr>
          <a:lstStyle/>
          <a:p>
            <a:pPr algn="l">
              <a:defRPr sz="1600" b="1">
                <a:solidFill>
                  <a:srgbClr val="00C97B"/>
                </a:solidFill>
                <a:latin typeface="Calibri"/>
              </a:defRPr>
            </a:pPr>
            <a:r>
              <a:t>WITH SPEC-DRIVEN DEVELOPMENT</a:t>
            </a:r>
          </a:p>
        </p:txBody>
      </p:sp>
      <p:sp>
        <p:nvSpPr>
          <p:cNvPr id="20" name="TextBox 19"/>
          <p:cNvSpPr txBox="1"/>
          <p:nvPr/>
        </p:nvSpPr>
        <p:spPr>
          <a:xfrm>
            <a:off x="6675120" y="2514600"/>
            <a:ext cx="4663440" cy="320040"/>
          </a:xfrm>
          <a:prstGeom prst="rect">
            <a:avLst/>
          </a:prstGeom>
          <a:noFill/>
        </p:spPr>
        <p:txBody>
          <a:bodyPr wrap="square">
            <a:spAutoFit/>
          </a:bodyPr>
          <a:lstStyle/>
          <a:p>
            <a:pPr algn="l">
              <a:defRPr sz="1300" b="0">
                <a:solidFill>
                  <a:srgbClr val="CCCCCC"/>
                </a:solidFill>
                <a:latin typeface="Calibri"/>
              </a:defRPr>
            </a:pPr>
            <a:r>
              <a:t>Detailed spec: types, methods, behaviors</a:t>
            </a:r>
          </a:p>
        </p:txBody>
      </p:sp>
      <p:sp>
        <p:nvSpPr>
          <p:cNvPr id="21" name="TextBox 20"/>
          <p:cNvSpPr txBox="1"/>
          <p:nvPr/>
        </p:nvSpPr>
        <p:spPr>
          <a:xfrm>
            <a:off x="6675120" y="2788920"/>
            <a:ext cx="4663440" cy="320040"/>
          </a:xfrm>
          <a:prstGeom prst="rect">
            <a:avLst/>
          </a:prstGeom>
          <a:noFill/>
        </p:spPr>
        <p:txBody>
          <a:bodyPr wrap="square">
            <a:spAutoFit/>
          </a:bodyPr>
          <a:lstStyle/>
          <a:p>
            <a:pPr algn="l">
              <a:defRPr sz="1300" b="0">
                <a:solidFill>
                  <a:srgbClr val="CCCCCC"/>
                </a:solidFill>
                <a:latin typeface="Calibri"/>
              </a:defRPr>
            </a:pPr>
          </a:p>
        </p:txBody>
      </p:sp>
      <p:sp>
        <p:nvSpPr>
          <p:cNvPr id="22" name="TextBox 21"/>
          <p:cNvSpPr txBox="1"/>
          <p:nvPr/>
        </p:nvSpPr>
        <p:spPr>
          <a:xfrm>
            <a:off x="6675120" y="3063240"/>
            <a:ext cx="4663440" cy="320040"/>
          </a:xfrm>
          <a:prstGeom prst="rect">
            <a:avLst/>
          </a:prstGeom>
          <a:noFill/>
        </p:spPr>
        <p:txBody>
          <a:bodyPr wrap="square">
            <a:spAutoFit/>
          </a:bodyPr>
          <a:lstStyle/>
          <a:p>
            <a:pPr algn="l">
              <a:defRPr sz="1300" b="0">
                <a:solidFill>
                  <a:srgbClr val="CCCCCC"/>
                </a:solidFill>
                <a:latin typeface="Calibri"/>
              </a:defRPr>
            </a:pPr>
            <a:r>
              <a:t>AI follows precise instructions</a:t>
            </a:r>
          </a:p>
        </p:txBody>
      </p:sp>
      <p:sp>
        <p:nvSpPr>
          <p:cNvPr id="23" name="TextBox 22"/>
          <p:cNvSpPr txBox="1"/>
          <p:nvPr/>
        </p:nvSpPr>
        <p:spPr>
          <a:xfrm>
            <a:off x="6675120" y="3337560"/>
            <a:ext cx="4663440" cy="320040"/>
          </a:xfrm>
          <a:prstGeom prst="rect">
            <a:avLst/>
          </a:prstGeom>
          <a:noFill/>
        </p:spPr>
        <p:txBody>
          <a:bodyPr wrap="square">
            <a:spAutoFit/>
          </a:bodyPr>
          <a:lstStyle/>
          <a:p>
            <a:pPr algn="l">
              <a:defRPr sz="1300" b="0">
                <a:solidFill>
                  <a:srgbClr val="CCCCCC"/>
                </a:solidFill>
                <a:latin typeface="Calibri"/>
              </a:defRPr>
            </a:pPr>
            <a:r>
              <a:t>Output matches your design exactly</a:t>
            </a:r>
          </a:p>
        </p:txBody>
      </p:sp>
      <p:sp>
        <p:nvSpPr>
          <p:cNvPr id="24" name="TextBox 23"/>
          <p:cNvSpPr txBox="1"/>
          <p:nvPr/>
        </p:nvSpPr>
        <p:spPr>
          <a:xfrm>
            <a:off x="6675120" y="3611880"/>
            <a:ext cx="4663440" cy="320040"/>
          </a:xfrm>
          <a:prstGeom prst="rect">
            <a:avLst/>
          </a:prstGeom>
          <a:noFill/>
        </p:spPr>
        <p:txBody>
          <a:bodyPr wrap="square">
            <a:spAutoFit/>
          </a:bodyPr>
          <a:lstStyle/>
          <a:p>
            <a:pPr algn="l">
              <a:defRPr sz="1300" b="0">
                <a:solidFill>
                  <a:srgbClr val="CCCCCC"/>
                </a:solidFill>
                <a:latin typeface="Calibri"/>
              </a:defRPr>
            </a:pPr>
            <a:r>
              <a:t>Minimal corrections needed</a:t>
            </a:r>
          </a:p>
        </p:txBody>
      </p:sp>
      <p:sp>
        <p:nvSpPr>
          <p:cNvPr id="25" name="TextBox 24"/>
          <p:cNvSpPr txBox="1"/>
          <p:nvPr/>
        </p:nvSpPr>
        <p:spPr>
          <a:xfrm>
            <a:off x="6675120" y="3886200"/>
            <a:ext cx="4663440" cy="320040"/>
          </a:xfrm>
          <a:prstGeom prst="rect">
            <a:avLst/>
          </a:prstGeom>
          <a:noFill/>
        </p:spPr>
        <p:txBody>
          <a:bodyPr wrap="square">
            <a:spAutoFit/>
          </a:bodyPr>
          <a:lstStyle/>
          <a:p>
            <a:pPr algn="l">
              <a:defRPr sz="1300" b="0">
                <a:solidFill>
                  <a:srgbClr val="CCCCCC"/>
                </a:solidFill>
                <a:latin typeface="Calibri"/>
              </a:defRPr>
            </a:pPr>
            <a:r>
              <a:t>Each component is independently verifiable</a:t>
            </a:r>
          </a:p>
        </p:txBody>
      </p:sp>
      <p:sp>
        <p:nvSpPr>
          <p:cNvPr id="26" name="TextBox 25"/>
          <p:cNvSpPr txBox="1"/>
          <p:nvPr/>
        </p:nvSpPr>
        <p:spPr>
          <a:xfrm>
            <a:off x="6675120" y="4160520"/>
            <a:ext cx="4663440" cy="320040"/>
          </a:xfrm>
          <a:prstGeom prst="rect">
            <a:avLst/>
          </a:prstGeom>
          <a:noFill/>
        </p:spPr>
        <p:txBody>
          <a:bodyPr wrap="square">
            <a:spAutoFit/>
          </a:bodyPr>
          <a:lstStyle/>
          <a:p>
            <a:pPr algn="l">
              <a:defRPr sz="1300" b="0">
                <a:solidFill>
                  <a:srgbClr val="CCCCCC"/>
                </a:solidFill>
                <a:latin typeface="Calibri"/>
              </a:defRPr>
            </a:pPr>
            <a:r>
              <a:t>Implementation in a single pass</a:t>
            </a:r>
          </a:p>
        </p:txBody>
      </p:sp>
      <p:sp>
        <p:nvSpPr>
          <p:cNvPr id="27" name="TextBox 26"/>
          <p:cNvSpPr txBox="1"/>
          <p:nvPr/>
        </p:nvSpPr>
        <p:spPr>
          <a:xfrm>
            <a:off x="6675120" y="4434840"/>
            <a:ext cx="4663440" cy="320040"/>
          </a:xfrm>
          <a:prstGeom prst="rect">
            <a:avLst/>
          </a:prstGeom>
          <a:noFill/>
        </p:spPr>
        <p:txBody>
          <a:bodyPr wrap="square">
            <a:spAutoFit/>
          </a:bodyPr>
          <a:lstStyle/>
          <a:p>
            <a:pPr algn="l">
              <a:defRPr sz="1300" b="0">
                <a:solidFill>
                  <a:srgbClr val="CCCCCC"/>
                </a:solidFill>
                <a:latin typeface="Calibri"/>
              </a:defRPr>
            </a:pPr>
          </a:p>
        </p:txBody>
      </p:sp>
      <p:sp>
        <p:nvSpPr>
          <p:cNvPr id="28" name="TextBox 27"/>
          <p:cNvSpPr txBox="1"/>
          <p:nvPr/>
        </p:nvSpPr>
        <p:spPr>
          <a:xfrm>
            <a:off x="6675120" y="4709160"/>
            <a:ext cx="4663440" cy="320040"/>
          </a:xfrm>
          <a:prstGeom prst="rect">
            <a:avLst/>
          </a:prstGeom>
          <a:noFill/>
        </p:spPr>
        <p:txBody>
          <a:bodyPr wrap="square">
            <a:spAutoFit/>
          </a:bodyPr>
          <a:lstStyle/>
          <a:p>
            <a:pPr algn="l">
              <a:defRPr sz="1300" b="0">
                <a:solidFill>
                  <a:srgbClr val="CCCCCC"/>
                </a:solidFill>
                <a:latin typeface="Calibri"/>
              </a:defRPr>
            </a:pPr>
            <a:r>
              <a:t>Spec -&gt; Correct output -&gt; Done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WHAT IS SPEC-DRIVEN DEVELOPMENT?</a:t>
            </a:r>
          </a:p>
        </p:txBody>
      </p:sp>
      <p:sp>
        <p:nvSpPr>
          <p:cNvPr id="4" name="TextBox 3"/>
          <p:cNvSpPr txBox="1"/>
          <p:nvPr/>
        </p:nvSpPr>
        <p:spPr>
          <a:xfrm>
            <a:off x="731520" y="1188720"/>
            <a:ext cx="10058400" cy="731520"/>
          </a:xfrm>
          <a:prstGeom prst="rect">
            <a:avLst/>
          </a:prstGeom>
          <a:noFill/>
        </p:spPr>
        <p:txBody>
          <a:bodyPr wrap="square">
            <a:spAutoFit/>
          </a:bodyPr>
          <a:lstStyle/>
          <a:p>
            <a:pPr algn="l">
              <a:defRPr sz="1800" b="0">
                <a:solidFill>
                  <a:srgbClr val="CCCCCC"/>
                </a:solidFill>
                <a:latin typeface="Calibri"/>
              </a:defRPr>
            </a:pPr>
            <a:r>
              <a:t>A methodology where detailed specifications are written before any implementation code. Specs define the WHAT and HOW so AI agents can build autonomously with minimal ambiguity.</a:t>
            </a:r>
          </a:p>
        </p:txBody>
      </p:sp>
      <p:sp>
        <p:nvSpPr>
          <p:cNvPr id="5" name="Rectangle 4"/>
          <p:cNvSpPr/>
          <p:nvPr/>
        </p:nvSpPr>
        <p:spPr>
          <a:xfrm>
            <a:off x="731520" y="2286000"/>
            <a:ext cx="3291840" cy="1828800"/>
          </a:xfrm>
          <a:prstGeom prst="rect">
            <a:avLst/>
          </a:prstGeom>
          <a:solidFill>
            <a:srgbClr val="24243E"/>
          </a:solidFill>
          <a:ln w="2540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286000"/>
            <a:ext cx="54864" cy="182880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423160"/>
            <a:ext cx="2926080" cy="365760"/>
          </a:xfrm>
          <a:prstGeom prst="rect">
            <a:avLst/>
          </a:prstGeom>
          <a:noFill/>
        </p:spPr>
        <p:txBody>
          <a:bodyPr wrap="square">
            <a:spAutoFit/>
          </a:bodyPr>
          <a:lstStyle/>
          <a:p>
            <a:pPr algn="l">
              <a:defRPr sz="1600" b="1">
                <a:solidFill>
                  <a:srgbClr val="0096D6"/>
                </a:solidFill>
                <a:latin typeface="Calibri"/>
              </a:defRPr>
            </a:pPr>
            <a:r>
              <a:t>1. TYPES &amp; INTERFACES</a:t>
            </a:r>
          </a:p>
        </p:txBody>
      </p:sp>
      <p:sp>
        <p:nvSpPr>
          <p:cNvPr id="8" name="TextBox 7"/>
          <p:cNvSpPr txBox="1"/>
          <p:nvPr/>
        </p:nvSpPr>
        <p:spPr>
          <a:xfrm>
            <a:off x="1005840" y="2788920"/>
            <a:ext cx="2926080" cy="320040"/>
          </a:xfrm>
          <a:prstGeom prst="rect">
            <a:avLst/>
          </a:prstGeom>
          <a:noFill/>
        </p:spPr>
        <p:txBody>
          <a:bodyPr wrap="square">
            <a:spAutoFit/>
          </a:bodyPr>
          <a:lstStyle/>
          <a:p>
            <a:pPr algn="l">
              <a:defRPr sz="1300" b="0">
                <a:solidFill>
                  <a:srgbClr val="CCCCCC"/>
                </a:solidFill>
                <a:latin typeface="Calibri"/>
              </a:defRPr>
            </a:pPr>
            <a:r>
              <a:t>Define exact data structures</a:t>
            </a:r>
          </a:p>
        </p:txBody>
      </p:sp>
      <p:sp>
        <p:nvSpPr>
          <p:cNvPr id="9" name="TextBox 8"/>
          <p:cNvSpPr txBox="1"/>
          <p:nvPr/>
        </p:nvSpPr>
        <p:spPr>
          <a:xfrm>
            <a:off x="1005840" y="3063240"/>
            <a:ext cx="2926080" cy="320040"/>
          </a:xfrm>
          <a:prstGeom prst="rect">
            <a:avLst/>
          </a:prstGeom>
          <a:noFill/>
        </p:spPr>
        <p:txBody>
          <a:bodyPr wrap="square">
            <a:spAutoFit/>
          </a:bodyPr>
          <a:lstStyle/>
          <a:p>
            <a:pPr algn="l">
              <a:defRPr sz="1300" b="0">
                <a:solidFill>
                  <a:srgbClr val="CCCCCC"/>
                </a:solidFill>
                <a:latin typeface="Calibri"/>
              </a:defRPr>
            </a:pPr>
            <a:r>
              <a:t>Field names, types, constraints</a:t>
            </a:r>
          </a:p>
        </p:txBody>
      </p:sp>
      <p:sp>
        <p:nvSpPr>
          <p:cNvPr id="10" name="TextBox 9"/>
          <p:cNvSpPr txBox="1"/>
          <p:nvPr/>
        </p:nvSpPr>
        <p:spPr>
          <a:xfrm>
            <a:off x="1005840" y="3337560"/>
            <a:ext cx="2926080" cy="320040"/>
          </a:xfrm>
          <a:prstGeom prst="rect">
            <a:avLst/>
          </a:prstGeom>
          <a:noFill/>
        </p:spPr>
        <p:txBody>
          <a:bodyPr wrap="square">
            <a:spAutoFit/>
          </a:bodyPr>
          <a:lstStyle/>
          <a:p>
            <a:pPr algn="l">
              <a:defRPr sz="1300" b="0">
                <a:solidFill>
                  <a:srgbClr val="CCCCCC"/>
                </a:solidFill>
                <a:latin typeface="Calibri"/>
              </a:defRPr>
            </a:pPr>
            <a:r>
              <a:t>Shared across all components</a:t>
            </a:r>
          </a:p>
        </p:txBody>
      </p:sp>
      <p:sp>
        <p:nvSpPr>
          <p:cNvPr id="11" name="Rectangle 10"/>
          <p:cNvSpPr/>
          <p:nvPr/>
        </p:nvSpPr>
        <p:spPr>
          <a:xfrm>
            <a:off x="4389120" y="2286000"/>
            <a:ext cx="3291840" cy="1828800"/>
          </a:xfrm>
          <a:prstGeom prst="rect">
            <a:avLst/>
          </a:prstGeom>
          <a:solidFill>
            <a:srgbClr val="24243E"/>
          </a:solidFill>
          <a:ln w="25400">
            <a:solidFill>
              <a:srgbClr val="00C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286000"/>
            <a:ext cx="54864" cy="1828800"/>
          </a:xfrm>
          <a:prstGeom prst="rect">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423160"/>
            <a:ext cx="2926080" cy="365760"/>
          </a:xfrm>
          <a:prstGeom prst="rect">
            <a:avLst/>
          </a:prstGeom>
          <a:noFill/>
        </p:spPr>
        <p:txBody>
          <a:bodyPr wrap="square">
            <a:spAutoFit/>
          </a:bodyPr>
          <a:lstStyle/>
          <a:p>
            <a:pPr algn="l">
              <a:defRPr sz="1600" b="1">
                <a:solidFill>
                  <a:srgbClr val="00C97B"/>
                </a:solidFill>
                <a:latin typeface="Calibri"/>
              </a:defRPr>
            </a:pPr>
            <a:r>
              <a:t>2. METHOD SIGNATURES</a:t>
            </a:r>
          </a:p>
        </p:txBody>
      </p:sp>
      <p:sp>
        <p:nvSpPr>
          <p:cNvPr id="14" name="TextBox 13"/>
          <p:cNvSpPr txBox="1"/>
          <p:nvPr/>
        </p:nvSpPr>
        <p:spPr>
          <a:xfrm>
            <a:off x="4663440" y="2788920"/>
            <a:ext cx="2926080" cy="320040"/>
          </a:xfrm>
          <a:prstGeom prst="rect">
            <a:avLst/>
          </a:prstGeom>
          <a:noFill/>
        </p:spPr>
        <p:txBody>
          <a:bodyPr wrap="square">
            <a:spAutoFit/>
          </a:bodyPr>
          <a:lstStyle/>
          <a:p>
            <a:pPr algn="l">
              <a:defRPr sz="1300" b="0">
                <a:solidFill>
                  <a:srgbClr val="CCCCCC"/>
                </a:solidFill>
                <a:latin typeface="Calibri"/>
              </a:defRPr>
            </a:pPr>
            <a:r>
              <a:t>Inputs, outputs, side effects</a:t>
            </a:r>
          </a:p>
        </p:txBody>
      </p:sp>
      <p:sp>
        <p:nvSpPr>
          <p:cNvPr id="15" name="TextBox 14"/>
          <p:cNvSpPr txBox="1"/>
          <p:nvPr/>
        </p:nvSpPr>
        <p:spPr>
          <a:xfrm>
            <a:off x="4663440" y="3063240"/>
            <a:ext cx="2926080" cy="320040"/>
          </a:xfrm>
          <a:prstGeom prst="rect">
            <a:avLst/>
          </a:prstGeom>
          <a:noFill/>
        </p:spPr>
        <p:txBody>
          <a:bodyPr wrap="square">
            <a:spAutoFit/>
          </a:bodyPr>
          <a:lstStyle/>
          <a:p>
            <a:pPr algn="l">
              <a:defRPr sz="1300" b="0">
                <a:solidFill>
                  <a:srgbClr val="CCCCCC"/>
                </a:solidFill>
                <a:latin typeface="Calibri"/>
              </a:defRPr>
            </a:pPr>
            <a:r>
              <a:t>Step-by-step behavior</a:t>
            </a:r>
          </a:p>
        </p:txBody>
      </p:sp>
      <p:sp>
        <p:nvSpPr>
          <p:cNvPr id="16" name="TextBox 15"/>
          <p:cNvSpPr txBox="1"/>
          <p:nvPr/>
        </p:nvSpPr>
        <p:spPr>
          <a:xfrm>
            <a:off x="4663440" y="3337560"/>
            <a:ext cx="2926080" cy="320040"/>
          </a:xfrm>
          <a:prstGeom prst="rect">
            <a:avLst/>
          </a:prstGeom>
          <a:noFill/>
        </p:spPr>
        <p:txBody>
          <a:bodyPr wrap="square">
            <a:spAutoFit/>
          </a:bodyPr>
          <a:lstStyle/>
          <a:p>
            <a:pPr algn="l">
              <a:defRPr sz="1300" b="0">
                <a:solidFill>
                  <a:srgbClr val="CCCCCC"/>
                </a:solidFill>
                <a:latin typeface="Calibri"/>
              </a:defRPr>
            </a:pPr>
            <a:r>
              <a:t>No room for guesswork</a:t>
            </a:r>
          </a:p>
        </p:txBody>
      </p:sp>
      <p:sp>
        <p:nvSpPr>
          <p:cNvPr id="17" name="Rectangle 16"/>
          <p:cNvSpPr/>
          <p:nvPr/>
        </p:nvSpPr>
        <p:spPr>
          <a:xfrm>
            <a:off x="8046720" y="2286000"/>
            <a:ext cx="3291840" cy="1828800"/>
          </a:xfrm>
          <a:prstGeom prst="rect">
            <a:avLst/>
          </a:prstGeom>
          <a:solidFill>
            <a:srgbClr val="24243E"/>
          </a:solidFill>
          <a:ln w="25400">
            <a:solidFill>
              <a:srgbClr val="7C5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2286000"/>
            <a:ext cx="54864" cy="1828800"/>
          </a:xfrm>
          <a:prstGeom prst="rect">
            <a:avLst/>
          </a:prstGeom>
          <a:solidFill>
            <a:srgbClr val="7C5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2423160"/>
            <a:ext cx="2926080" cy="365760"/>
          </a:xfrm>
          <a:prstGeom prst="rect">
            <a:avLst/>
          </a:prstGeom>
          <a:noFill/>
        </p:spPr>
        <p:txBody>
          <a:bodyPr wrap="square">
            <a:spAutoFit/>
          </a:bodyPr>
          <a:lstStyle/>
          <a:p>
            <a:pPr algn="l">
              <a:defRPr sz="1600" b="1">
                <a:solidFill>
                  <a:srgbClr val="7C5CFC"/>
                </a:solidFill>
                <a:latin typeface="Calibri"/>
              </a:defRPr>
            </a:pPr>
            <a:r>
              <a:t>3. DATA FLOW &amp; ERRORS</a:t>
            </a:r>
          </a:p>
        </p:txBody>
      </p:sp>
      <p:sp>
        <p:nvSpPr>
          <p:cNvPr id="20" name="TextBox 19"/>
          <p:cNvSpPr txBox="1"/>
          <p:nvPr/>
        </p:nvSpPr>
        <p:spPr>
          <a:xfrm>
            <a:off x="8321040" y="2788920"/>
            <a:ext cx="2926080" cy="320040"/>
          </a:xfrm>
          <a:prstGeom prst="rect">
            <a:avLst/>
          </a:prstGeom>
          <a:noFill/>
        </p:spPr>
        <p:txBody>
          <a:bodyPr wrap="square">
            <a:spAutoFit/>
          </a:bodyPr>
          <a:lstStyle/>
          <a:p>
            <a:pPr algn="l">
              <a:defRPr sz="1300" b="0">
                <a:solidFill>
                  <a:srgbClr val="CCCCCC"/>
                </a:solidFill>
                <a:latin typeface="Calibri"/>
              </a:defRPr>
            </a:pPr>
            <a:r>
              <a:t>How data moves between parts</a:t>
            </a:r>
          </a:p>
        </p:txBody>
      </p:sp>
      <p:sp>
        <p:nvSpPr>
          <p:cNvPr id="21" name="TextBox 20"/>
          <p:cNvSpPr txBox="1"/>
          <p:nvPr/>
        </p:nvSpPr>
        <p:spPr>
          <a:xfrm>
            <a:off x="8321040" y="3063240"/>
            <a:ext cx="2926080" cy="320040"/>
          </a:xfrm>
          <a:prstGeom prst="rect">
            <a:avLst/>
          </a:prstGeom>
          <a:noFill/>
        </p:spPr>
        <p:txBody>
          <a:bodyPr wrap="square">
            <a:spAutoFit/>
          </a:bodyPr>
          <a:lstStyle/>
          <a:p>
            <a:pPr algn="l">
              <a:defRPr sz="1300" b="0">
                <a:solidFill>
                  <a:srgbClr val="CCCCCC"/>
                </a:solidFill>
                <a:latin typeface="Calibri"/>
              </a:defRPr>
            </a:pPr>
            <a:r>
              <a:t>Happy path + edge cases</a:t>
            </a:r>
          </a:p>
        </p:txBody>
      </p:sp>
      <p:sp>
        <p:nvSpPr>
          <p:cNvPr id="22" name="TextBox 21"/>
          <p:cNvSpPr txBox="1"/>
          <p:nvPr/>
        </p:nvSpPr>
        <p:spPr>
          <a:xfrm>
            <a:off x="8321040" y="3337560"/>
            <a:ext cx="2926080" cy="320040"/>
          </a:xfrm>
          <a:prstGeom prst="rect">
            <a:avLst/>
          </a:prstGeom>
          <a:noFill/>
        </p:spPr>
        <p:txBody>
          <a:bodyPr wrap="square">
            <a:spAutoFit/>
          </a:bodyPr>
          <a:lstStyle/>
          <a:p>
            <a:pPr algn="l">
              <a:defRPr sz="1300" b="0">
                <a:solidFill>
                  <a:srgbClr val="CCCCCC"/>
                </a:solidFill>
                <a:latin typeface="Calibri"/>
              </a:defRPr>
            </a:pPr>
            <a:r>
              <a:t>Error handling scenarios</a:t>
            </a:r>
          </a:p>
        </p:txBody>
      </p:sp>
      <p:sp>
        <p:nvSpPr>
          <p:cNvPr id="23" name="TextBox 22"/>
          <p:cNvSpPr txBox="1"/>
          <p:nvPr/>
        </p:nvSpPr>
        <p:spPr>
          <a:xfrm>
            <a:off x="731520" y="4572000"/>
            <a:ext cx="10515600" cy="457200"/>
          </a:xfrm>
          <a:prstGeom prst="rect">
            <a:avLst/>
          </a:prstGeom>
          <a:noFill/>
        </p:spPr>
        <p:txBody>
          <a:bodyPr wrap="square">
            <a:spAutoFit/>
          </a:bodyPr>
          <a:lstStyle/>
          <a:p>
            <a:pPr algn="l">
              <a:defRPr sz="2000" b="1">
                <a:solidFill>
                  <a:srgbClr val="FF8C42"/>
                </a:solidFill>
                <a:latin typeface="Calibri"/>
              </a:defRPr>
            </a:pPr>
            <a:r>
              <a:t>Core principle: If it's not in the spec, it doesn't exist.</a:t>
            </a:r>
          </a:p>
        </p:txBody>
      </p:sp>
      <p:sp>
        <p:nvSpPr>
          <p:cNvPr id="24" name="TextBox 23"/>
          <p:cNvSpPr txBox="1"/>
          <p:nvPr/>
        </p:nvSpPr>
        <p:spPr>
          <a:xfrm>
            <a:off x="731520" y="5212080"/>
            <a:ext cx="10058400" cy="1371600"/>
          </a:xfrm>
          <a:prstGeom prst="rect">
            <a:avLst/>
          </a:prstGeom>
          <a:noFill/>
        </p:spPr>
        <p:txBody>
          <a:bodyPr wrap="square">
            <a:spAutoFit/>
          </a:bodyPr>
          <a:lstStyle/>
          <a:p>
            <a:pPr>
              <a:spcBef>
                <a:spcPts val="800"/>
              </a:spcBef>
              <a:spcAft>
                <a:spcPts val="800"/>
              </a:spcAft>
            </a:pPr>
            <a:r>
              <a:rPr sz="1600" b="1">
                <a:solidFill>
                  <a:srgbClr val="0096D6"/>
                </a:solidFill>
                <a:latin typeface="Calibri"/>
              </a:rPr>
              <a:t>  &gt;  </a:t>
            </a:r>
            <a:r>
              <a:rPr sz="1600">
                <a:solidFill>
                  <a:srgbClr val="FFFFFF"/>
                </a:solidFill>
                <a:latin typeface="Calibri"/>
              </a:rPr>
              <a:t>Specs are the single source of truth for design decisions</a:t>
            </a:r>
          </a:p>
          <a:p>
            <a:pPr>
              <a:spcBef>
                <a:spcPts val="800"/>
              </a:spcBef>
              <a:spcAft>
                <a:spcPts val="800"/>
              </a:spcAft>
            </a:pPr>
            <a:r>
              <a:rPr sz="1600" b="1">
                <a:solidFill>
                  <a:srgbClr val="0096D6"/>
                </a:solidFill>
                <a:latin typeface="Calibri"/>
              </a:rPr>
              <a:t>  &gt;  </a:t>
            </a:r>
            <a:r>
              <a:rPr sz="1600">
                <a:solidFill>
                  <a:srgbClr val="FFFFFF"/>
                </a:solidFill>
                <a:latin typeface="Calibri"/>
              </a:rPr>
              <a:t>Atomic, numbered specs create natural implementation order</a:t>
            </a:r>
          </a:p>
          <a:p>
            <a:pPr>
              <a:spcBef>
                <a:spcPts val="800"/>
              </a:spcBef>
              <a:spcAft>
                <a:spcPts val="800"/>
              </a:spcAft>
            </a:pPr>
            <a:r>
              <a:rPr sz="1600" b="1">
                <a:solidFill>
                  <a:srgbClr val="0096D6"/>
                </a:solidFill>
                <a:latin typeface="Calibri"/>
              </a:rPr>
              <a:t>  &gt;  </a:t>
            </a:r>
            <a:r>
              <a:rPr sz="1600">
                <a:solidFill>
                  <a:srgbClr val="FFFFFF"/>
                </a:solidFill>
                <a:latin typeface="Calibri"/>
              </a:rPr>
              <a:t>Implementation plans break specs into executable tasks for AI agents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THE SDD WORKFLOW</a:t>
            </a:r>
          </a:p>
        </p:txBody>
      </p:sp>
      <p:sp>
        <p:nvSpPr>
          <p:cNvPr id="4" name="Rectangle 3"/>
          <p:cNvSpPr/>
          <p:nvPr/>
        </p:nvSpPr>
        <p:spPr>
          <a:xfrm>
            <a:off x="457200" y="1463040"/>
            <a:ext cx="2651760" cy="4754880"/>
          </a:xfrm>
          <a:prstGeom prst="rect">
            <a:avLst/>
          </a:prstGeom>
          <a:solidFill>
            <a:srgbClr val="24243E"/>
          </a:solidFill>
          <a:ln w="2540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2651760" cy="320040"/>
          </a:xfrm>
          <a:prstGeom prst="rect">
            <a:avLst/>
          </a:prstGeom>
          <a:noFill/>
        </p:spPr>
        <p:txBody>
          <a:bodyPr wrap="square">
            <a:spAutoFit/>
          </a:bodyPr>
          <a:lstStyle/>
          <a:p>
            <a:pPr algn="ctr">
              <a:defRPr sz="1200" b="0">
                <a:solidFill>
                  <a:srgbClr val="999999"/>
                </a:solidFill>
                <a:latin typeface="Calibri"/>
              </a:defRPr>
            </a:pPr>
            <a:r>
              <a:t>PHASE 1</a:t>
            </a:r>
          </a:p>
        </p:txBody>
      </p:sp>
      <p:sp>
        <p:nvSpPr>
          <p:cNvPr id="6" name="TextBox 5"/>
          <p:cNvSpPr txBox="1"/>
          <p:nvPr/>
        </p:nvSpPr>
        <p:spPr>
          <a:xfrm>
            <a:off x="457200" y="1874520"/>
            <a:ext cx="2651760" cy="457200"/>
          </a:xfrm>
          <a:prstGeom prst="rect">
            <a:avLst/>
          </a:prstGeom>
          <a:noFill/>
        </p:spPr>
        <p:txBody>
          <a:bodyPr wrap="square">
            <a:spAutoFit/>
          </a:bodyPr>
          <a:lstStyle/>
          <a:p>
            <a:pPr algn="ctr">
              <a:defRPr sz="2400" b="1">
                <a:solidFill>
                  <a:srgbClr val="0096D6"/>
                </a:solidFill>
                <a:latin typeface="Calibri"/>
              </a:defRPr>
            </a:pPr>
            <a:r>
              <a:t>SPECIFY</a:t>
            </a:r>
          </a:p>
        </p:txBody>
      </p:sp>
      <p:sp>
        <p:nvSpPr>
          <p:cNvPr id="7" name="TextBox 6"/>
          <p:cNvSpPr txBox="1"/>
          <p:nvPr/>
        </p:nvSpPr>
        <p:spPr>
          <a:xfrm>
            <a:off x="640080" y="2560320"/>
            <a:ext cx="2286000" cy="320040"/>
          </a:xfrm>
          <a:prstGeom prst="rect">
            <a:avLst/>
          </a:prstGeom>
          <a:noFill/>
        </p:spPr>
        <p:txBody>
          <a:bodyPr wrap="square">
            <a:spAutoFit/>
          </a:bodyPr>
          <a:lstStyle/>
          <a:p>
            <a:pPr algn="l">
              <a:defRPr sz="1200" b="0">
                <a:solidFill>
                  <a:srgbClr val="CCCCCC"/>
                </a:solidFill>
                <a:latin typeface="Calibri"/>
              </a:defRPr>
            </a:pPr>
            <a:r>
              <a:t>  Project overview (architecture, stack)</a:t>
            </a:r>
          </a:p>
        </p:txBody>
      </p:sp>
      <p:sp>
        <p:nvSpPr>
          <p:cNvPr id="8" name="TextBox 7"/>
          <p:cNvSpPr txBox="1"/>
          <p:nvPr/>
        </p:nvSpPr>
        <p:spPr>
          <a:xfrm>
            <a:off x="640080" y="2880360"/>
            <a:ext cx="2286000" cy="320040"/>
          </a:xfrm>
          <a:prstGeom prst="rect">
            <a:avLst/>
          </a:prstGeom>
          <a:noFill/>
        </p:spPr>
        <p:txBody>
          <a:bodyPr wrap="square">
            <a:spAutoFit/>
          </a:bodyPr>
          <a:lstStyle/>
          <a:p>
            <a:pPr algn="l">
              <a:defRPr sz="1200" b="0">
                <a:solidFill>
                  <a:srgbClr val="CCCCCC"/>
                </a:solidFill>
                <a:latin typeface="Calibri"/>
              </a:defRPr>
            </a:pPr>
            <a:r>
              <a:t>  Shared types and interfaces</a:t>
            </a:r>
          </a:p>
        </p:txBody>
      </p:sp>
      <p:sp>
        <p:nvSpPr>
          <p:cNvPr id="9" name="TextBox 8"/>
          <p:cNvSpPr txBox="1"/>
          <p:nvPr/>
        </p:nvSpPr>
        <p:spPr>
          <a:xfrm>
            <a:off x="640080" y="3200400"/>
            <a:ext cx="2286000" cy="320040"/>
          </a:xfrm>
          <a:prstGeom prst="rect">
            <a:avLst/>
          </a:prstGeom>
          <a:noFill/>
        </p:spPr>
        <p:txBody>
          <a:bodyPr wrap="square">
            <a:spAutoFit/>
          </a:bodyPr>
          <a:lstStyle/>
          <a:p>
            <a:pPr algn="l">
              <a:defRPr sz="1200" b="0">
                <a:solidFill>
                  <a:srgbClr val="CCCCCC"/>
                </a:solidFill>
                <a:latin typeface="Calibri"/>
              </a:defRPr>
            </a:pPr>
            <a:r>
              <a:t>  Backend services &amp; modules</a:t>
            </a:r>
          </a:p>
        </p:txBody>
      </p:sp>
      <p:sp>
        <p:nvSpPr>
          <p:cNvPr id="10" name="TextBox 9"/>
          <p:cNvSpPr txBox="1"/>
          <p:nvPr/>
        </p:nvSpPr>
        <p:spPr>
          <a:xfrm>
            <a:off x="640080" y="3520440"/>
            <a:ext cx="2286000" cy="320040"/>
          </a:xfrm>
          <a:prstGeom prst="rect">
            <a:avLst/>
          </a:prstGeom>
          <a:noFill/>
        </p:spPr>
        <p:txBody>
          <a:bodyPr wrap="square">
            <a:spAutoFit/>
          </a:bodyPr>
          <a:lstStyle/>
          <a:p>
            <a:pPr algn="l">
              <a:defRPr sz="1200" b="0">
                <a:solidFill>
                  <a:srgbClr val="CCCCCC"/>
                </a:solidFill>
                <a:latin typeface="Calibri"/>
              </a:defRPr>
            </a:pPr>
            <a:r>
              <a:t>  Frontend components &amp; hooks</a:t>
            </a:r>
          </a:p>
        </p:txBody>
      </p:sp>
      <p:sp>
        <p:nvSpPr>
          <p:cNvPr id="11" name="TextBox 10"/>
          <p:cNvSpPr txBox="1"/>
          <p:nvPr/>
        </p:nvSpPr>
        <p:spPr>
          <a:xfrm>
            <a:off x="640080" y="3840480"/>
            <a:ext cx="2286000" cy="320040"/>
          </a:xfrm>
          <a:prstGeom prst="rect">
            <a:avLst/>
          </a:prstGeom>
          <a:noFill/>
        </p:spPr>
        <p:txBody>
          <a:bodyPr wrap="square">
            <a:spAutoFit/>
          </a:bodyPr>
          <a:lstStyle/>
          <a:p>
            <a:pPr algn="l">
              <a:defRPr sz="1200" b="0">
                <a:solidFill>
                  <a:srgbClr val="CCCCCC"/>
                </a:solidFill>
                <a:latin typeface="Calibri"/>
              </a:defRPr>
            </a:pPr>
            <a:r>
              <a:t>  Cross-cutting: data flow, errors</a:t>
            </a:r>
          </a:p>
        </p:txBody>
      </p:sp>
      <p:sp>
        <p:nvSpPr>
          <p:cNvPr id="12" name="TextBox 11"/>
          <p:cNvSpPr txBox="1"/>
          <p:nvPr/>
        </p:nvSpPr>
        <p:spPr>
          <a:xfrm>
            <a:off x="3127248" y="3474720"/>
            <a:ext cx="274320" cy="365760"/>
          </a:xfrm>
          <a:prstGeom prst="rect">
            <a:avLst/>
          </a:prstGeom>
          <a:noFill/>
        </p:spPr>
        <p:txBody>
          <a:bodyPr wrap="square">
            <a:spAutoFit/>
          </a:bodyPr>
          <a:lstStyle/>
          <a:p>
            <a:pPr algn="ctr">
              <a:defRPr sz="2400" b="1">
                <a:solidFill>
                  <a:srgbClr val="0096D6"/>
                </a:solidFill>
                <a:latin typeface="Calibri"/>
              </a:defRPr>
            </a:pPr>
            <a:r>
              <a:t>&gt;</a:t>
            </a:r>
          </a:p>
        </p:txBody>
      </p:sp>
      <p:sp>
        <p:nvSpPr>
          <p:cNvPr id="13" name="Rectangle 12"/>
          <p:cNvSpPr/>
          <p:nvPr/>
        </p:nvSpPr>
        <p:spPr>
          <a:xfrm>
            <a:off x="3337560" y="1463040"/>
            <a:ext cx="2651760" cy="4754880"/>
          </a:xfrm>
          <a:prstGeom prst="rect">
            <a:avLst/>
          </a:prstGeom>
          <a:solidFill>
            <a:srgbClr val="24243E"/>
          </a:solidFill>
          <a:ln w="25400">
            <a:solidFill>
              <a:srgbClr val="00C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600200"/>
            <a:ext cx="2651760" cy="320040"/>
          </a:xfrm>
          <a:prstGeom prst="rect">
            <a:avLst/>
          </a:prstGeom>
          <a:noFill/>
        </p:spPr>
        <p:txBody>
          <a:bodyPr wrap="square">
            <a:spAutoFit/>
          </a:bodyPr>
          <a:lstStyle/>
          <a:p>
            <a:pPr algn="ctr">
              <a:defRPr sz="1200" b="0">
                <a:solidFill>
                  <a:srgbClr val="999999"/>
                </a:solidFill>
                <a:latin typeface="Calibri"/>
              </a:defRPr>
            </a:pPr>
            <a:r>
              <a:t>PHASE 2</a:t>
            </a:r>
          </a:p>
        </p:txBody>
      </p:sp>
      <p:sp>
        <p:nvSpPr>
          <p:cNvPr id="15" name="TextBox 14"/>
          <p:cNvSpPr txBox="1"/>
          <p:nvPr/>
        </p:nvSpPr>
        <p:spPr>
          <a:xfrm>
            <a:off x="3337560" y="1874520"/>
            <a:ext cx="2651760" cy="457200"/>
          </a:xfrm>
          <a:prstGeom prst="rect">
            <a:avLst/>
          </a:prstGeom>
          <a:noFill/>
        </p:spPr>
        <p:txBody>
          <a:bodyPr wrap="square">
            <a:spAutoFit/>
          </a:bodyPr>
          <a:lstStyle/>
          <a:p>
            <a:pPr algn="ctr">
              <a:defRPr sz="2400" b="1">
                <a:solidFill>
                  <a:srgbClr val="00C97B"/>
                </a:solidFill>
                <a:latin typeface="Calibri"/>
              </a:defRPr>
            </a:pPr>
            <a:r>
              <a:t>PLAN</a:t>
            </a:r>
          </a:p>
        </p:txBody>
      </p:sp>
      <p:sp>
        <p:nvSpPr>
          <p:cNvPr id="16" name="TextBox 15"/>
          <p:cNvSpPr txBox="1"/>
          <p:nvPr/>
        </p:nvSpPr>
        <p:spPr>
          <a:xfrm>
            <a:off x="3520440" y="2560320"/>
            <a:ext cx="2286000" cy="320040"/>
          </a:xfrm>
          <a:prstGeom prst="rect">
            <a:avLst/>
          </a:prstGeom>
          <a:noFill/>
        </p:spPr>
        <p:txBody>
          <a:bodyPr wrap="square">
            <a:spAutoFit/>
          </a:bodyPr>
          <a:lstStyle/>
          <a:p>
            <a:pPr algn="l">
              <a:defRPr sz="1200" b="0">
                <a:solidFill>
                  <a:srgbClr val="CCCCCC"/>
                </a:solidFill>
                <a:latin typeface="Calibri"/>
              </a:defRPr>
            </a:pPr>
            <a:r>
              <a:t>  File map (what to create)</a:t>
            </a:r>
          </a:p>
        </p:txBody>
      </p:sp>
      <p:sp>
        <p:nvSpPr>
          <p:cNvPr id="17" name="TextBox 16"/>
          <p:cNvSpPr txBox="1"/>
          <p:nvPr/>
        </p:nvSpPr>
        <p:spPr>
          <a:xfrm>
            <a:off x="3520440" y="2880360"/>
            <a:ext cx="2286000" cy="320040"/>
          </a:xfrm>
          <a:prstGeom prst="rect">
            <a:avLst/>
          </a:prstGeom>
          <a:noFill/>
        </p:spPr>
        <p:txBody>
          <a:bodyPr wrap="square">
            <a:spAutoFit/>
          </a:bodyPr>
          <a:lstStyle/>
          <a:p>
            <a:pPr algn="l">
              <a:defRPr sz="1200" b="0">
                <a:solidFill>
                  <a:srgbClr val="CCCCCC"/>
                </a:solidFill>
                <a:latin typeface="Calibri"/>
              </a:defRPr>
            </a:pPr>
            <a:r>
              <a:t>  Numbered tasks with checkboxes</a:t>
            </a:r>
          </a:p>
        </p:txBody>
      </p:sp>
      <p:sp>
        <p:nvSpPr>
          <p:cNvPr id="18" name="TextBox 17"/>
          <p:cNvSpPr txBox="1"/>
          <p:nvPr/>
        </p:nvSpPr>
        <p:spPr>
          <a:xfrm>
            <a:off x="3520440" y="3200400"/>
            <a:ext cx="2286000" cy="320040"/>
          </a:xfrm>
          <a:prstGeom prst="rect">
            <a:avLst/>
          </a:prstGeom>
          <a:noFill/>
        </p:spPr>
        <p:txBody>
          <a:bodyPr wrap="square">
            <a:spAutoFit/>
          </a:bodyPr>
          <a:lstStyle/>
          <a:p>
            <a:pPr algn="l">
              <a:defRPr sz="1200" b="0">
                <a:solidFill>
                  <a:srgbClr val="CCCCCC"/>
                </a:solidFill>
                <a:latin typeface="Calibri"/>
              </a:defRPr>
            </a:pPr>
            <a:r>
              <a:t>  Code snippets for critical parts</a:t>
            </a:r>
          </a:p>
        </p:txBody>
      </p:sp>
      <p:sp>
        <p:nvSpPr>
          <p:cNvPr id="19" name="TextBox 18"/>
          <p:cNvSpPr txBox="1"/>
          <p:nvPr/>
        </p:nvSpPr>
        <p:spPr>
          <a:xfrm>
            <a:off x="3520440" y="3520440"/>
            <a:ext cx="2286000" cy="320040"/>
          </a:xfrm>
          <a:prstGeom prst="rect">
            <a:avLst/>
          </a:prstGeom>
          <a:noFill/>
        </p:spPr>
        <p:txBody>
          <a:bodyPr wrap="square">
            <a:spAutoFit/>
          </a:bodyPr>
          <a:lstStyle/>
          <a:p>
            <a:pPr algn="l">
              <a:defRPr sz="1200" b="0">
                <a:solidFill>
                  <a:srgbClr val="CCCCCC"/>
                </a:solidFill>
                <a:latin typeface="Calibri"/>
              </a:defRPr>
            </a:pPr>
            <a:r>
              <a:t>  Dependencies between tasks</a:t>
            </a:r>
          </a:p>
        </p:txBody>
      </p:sp>
      <p:sp>
        <p:nvSpPr>
          <p:cNvPr id="20" name="TextBox 19"/>
          <p:cNvSpPr txBox="1"/>
          <p:nvPr/>
        </p:nvSpPr>
        <p:spPr>
          <a:xfrm>
            <a:off x="3520440" y="3840480"/>
            <a:ext cx="2286000" cy="320040"/>
          </a:xfrm>
          <a:prstGeom prst="rect">
            <a:avLst/>
          </a:prstGeom>
          <a:noFill/>
        </p:spPr>
        <p:txBody>
          <a:bodyPr wrap="square">
            <a:spAutoFit/>
          </a:bodyPr>
          <a:lstStyle/>
          <a:p>
            <a:pPr algn="l">
              <a:defRPr sz="1200" b="0">
                <a:solidFill>
                  <a:srgbClr val="CCCCCC"/>
                </a:solidFill>
                <a:latin typeface="Calibri"/>
              </a:defRPr>
            </a:pPr>
            <a:r>
              <a:t>  Review checkpoints</a:t>
            </a:r>
          </a:p>
        </p:txBody>
      </p:sp>
      <p:sp>
        <p:nvSpPr>
          <p:cNvPr id="21" name="TextBox 20"/>
          <p:cNvSpPr txBox="1"/>
          <p:nvPr/>
        </p:nvSpPr>
        <p:spPr>
          <a:xfrm>
            <a:off x="6007608" y="3474720"/>
            <a:ext cx="274320" cy="365760"/>
          </a:xfrm>
          <a:prstGeom prst="rect">
            <a:avLst/>
          </a:prstGeom>
          <a:noFill/>
        </p:spPr>
        <p:txBody>
          <a:bodyPr wrap="square">
            <a:spAutoFit/>
          </a:bodyPr>
          <a:lstStyle/>
          <a:p>
            <a:pPr algn="ctr">
              <a:defRPr sz="2400" b="1">
                <a:solidFill>
                  <a:srgbClr val="00C97B"/>
                </a:solidFill>
                <a:latin typeface="Calibri"/>
              </a:defRPr>
            </a:pPr>
            <a:r>
              <a:t>&gt;</a:t>
            </a:r>
          </a:p>
        </p:txBody>
      </p:sp>
      <p:sp>
        <p:nvSpPr>
          <p:cNvPr id="22" name="Rectangle 21"/>
          <p:cNvSpPr/>
          <p:nvPr/>
        </p:nvSpPr>
        <p:spPr>
          <a:xfrm>
            <a:off x="6217920" y="1463040"/>
            <a:ext cx="2651760" cy="4754880"/>
          </a:xfrm>
          <a:prstGeom prst="rect">
            <a:avLst/>
          </a:prstGeom>
          <a:solidFill>
            <a:srgbClr val="24243E"/>
          </a:solidFill>
          <a:ln w="25400">
            <a:solidFill>
              <a:srgbClr val="7C5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1600200"/>
            <a:ext cx="2651760" cy="320040"/>
          </a:xfrm>
          <a:prstGeom prst="rect">
            <a:avLst/>
          </a:prstGeom>
          <a:noFill/>
        </p:spPr>
        <p:txBody>
          <a:bodyPr wrap="square">
            <a:spAutoFit/>
          </a:bodyPr>
          <a:lstStyle/>
          <a:p>
            <a:pPr algn="ctr">
              <a:defRPr sz="1200" b="0">
                <a:solidFill>
                  <a:srgbClr val="999999"/>
                </a:solidFill>
                <a:latin typeface="Calibri"/>
              </a:defRPr>
            </a:pPr>
            <a:r>
              <a:t>PHASE 3</a:t>
            </a:r>
          </a:p>
        </p:txBody>
      </p:sp>
      <p:sp>
        <p:nvSpPr>
          <p:cNvPr id="24" name="TextBox 23"/>
          <p:cNvSpPr txBox="1"/>
          <p:nvPr/>
        </p:nvSpPr>
        <p:spPr>
          <a:xfrm>
            <a:off x="6217920" y="1874520"/>
            <a:ext cx="2651760" cy="457200"/>
          </a:xfrm>
          <a:prstGeom prst="rect">
            <a:avLst/>
          </a:prstGeom>
          <a:noFill/>
        </p:spPr>
        <p:txBody>
          <a:bodyPr wrap="square">
            <a:spAutoFit/>
          </a:bodyPr>
          <a:lstStyle/>
          <a:p>
            <a:pPr algn="ctr">
              <a:defRPr sz="2400" b="1">
                <a:solidFill>
                  <a:srgbClr val="7C5CFC"/>
                </a:solidFill>
                <a:latin typeface="Calibri"/>
              </a:defRPr>
            </a:pPr>
            <a:r>
              <a:t>IMPLEMENT</a:t>
            </a:r>
          </a:p>
        </p:txBody>
      </p:sp>
      <p:sp>
        <p:nvSpPr>
          <p:cNvPr id="25" name="TextBox 24"/>
          <p:cNvSpPr txBox="1"/>
          <p:nvPr/>
        </p:nvSpPr>
        <p:spPr>
          <a:xfrm>
            <a:off x="6400800" y="2560320"/>
            <a:ext cx="2286000" cy="320040"/>
          </a:xfrm>
          <a:prstGeom prst="rect">
            <a:avLst/>
          </a:prstGeom>
          <a:noFill/>
        </p:spPr>
        <p:txBody>
          <a:bodyPr wrap="square">
            <a:spAutoFit/>
          </a:bodyPr>
          <a:lstStyle/>
          <a:p>
            <a:pPr algn="l">
              <a:defRPr sz="1200" b="0">
                <a:solidFill>
                  <a:srgbClr val="CCCCCC"/>
                </a:solidFill>
                <a:latin typeface="Calibri"/>
              </a:defRPr>
            </a:pPr>
            <a:r>
              <a:t>  AI agents execute task-by-task</a:t>
            </a:r>
          </a:p>
        </p:txBody>
      </p:sp>
      <p:sp>
        <p:nvSpPr>
          <p:cNvPr id="26" name="TextBox 25"/>
          <p:cNvSpPr txBox="1"/>
          <p:nvPr/>
        </p:nvSpPr>
        <p:spPr>
          <a:xfrm>
            <a:off x="6400800" y="2880360"/>
            <a:ext cx="2286000" cy="320040"/>
          </a:xfrm>
          <a:prstGeom prst="rect">
            <a:avLst/>
          </a:prstGeom>
          <a:noFill/>
        </p:spPr>
        <p:txBody>
          <a:bodyPr wrap="square">
            <a:spAutoFit/>
          </a:bodyPr>
          <a:lstStyle/>
          <a:p>
            <a:pPr algn="l">
              <a:defRPr sz="1200" b="0">
                <a:solidFill>
                  <a:srgbClr val="CCCCCC"/>
                </a:solidFill>
                <a:latin typeface="Calibri"/>
              </a:defRPr>
            </a:pPr>
            <a:r>
              <a:t>  Multiple agents work in parallel</a:t>
            </a:r>
          </a:p>
        </p:txBody>
      </p:sp>
      <p:sp>
        <p:nvSpPr>
          <p:cNvPr id="27" name="TextBox 26"/>
          <p:cNvSpPr txBox="1"/>
          <p:nvPr/>
        </p:nvSpPr>
        <p:spPr>
          <a:xfrm>
            <a:off x="6400800" y="3200400"/>
            <a:ext cx="2286000" cy="320040"/>
          </a:xfrm>
          <a:prstGeom prst="rect">
            <a:avLst/>
          </a:prstGeom>
          <a:noFill/>
        </p:spPr>
        <p:txBody>
          <a:bodyPr wrap="square">
            <a:spAutoFit/>
          </a:bodyPr>
          <a:lstStyle/>
          <a:p>
            <a:pPr algn="l">
              <a:defRPr sz="1200" b="0">
                <a:solidFill>
                  <a:srgbClr val="CCCCCC"/>
                </a:solidFill>
                <a:latin typeface="Calibri"/>
              </a:defRPr>
            </a:pPr>
            <a:r>
              <a:t>  Each task produces testable code</a:t>
            </a:r>
          </a:p>
        </p:txBody>
      </p:sp>
      <p:sp>
        <p:nvSpPr>
          <p:cNvPr id="28" name="TextBox 27"/>
          <p:cNvSpPr txBox="1"/>
          <p:nvPr/>
        </p:nvSpPr>
        <p:spPr>
          <a:xfrm>
            <a:off x="6400800" y="3520440"/>
            <a:ext cx="2286000" cy="320040"/>
          </a:xfrm>
          <a:prstGeom prst="rect">
            <a:avLst/>
          </a:prstGeom>
          <a:noFill/>
        </p:spPr>
        <p:txBody>
          <a:bodyPr wrap="square">
            <a:spAutoFit/>
          </a:bodyPr>
          <a:lstStyle/>
          <a:p>
            <a:pPr algn="l">
              <a:defRPr sz="1200" b="0">
                <a:solidFill>
                  <a:srgbClr val="CCCCCC"/>
                </a:solidFill>
                <a:latin typeface="Calibri"/>
              </a:defRPr>
            </a:pPr>
            <a:r>
              <a:t>  Follow spec precisely</a:t>
            </a:r>
          </a:p>
        </p:txBody>
      </p:sp>
      <p:sp>
        <p:nvSpPr>
          <p:cNvPr id="29" name="TextBox 28"/>
          <p:cNvSpPr txBox="1"/>
          <p:nvPr/>
        </p:nvSpPr>
        <p:spPr>
          <a:xfrm>
            <a:off x="6400800" y="3840480"/>
            <a:ext cx="2286000" cy="320040"/>
          </a:xfrm>
          <a:prstGeom prst="rect">
            <a:avLst/>
          </a:prstGeom>
          <a:noFill/>
        </p:spPr>
        <p:txBody>
          <a:bodyPr wrap="square">
            <a:spAutoFit/>
          </a:bodyPr>
          <a:lstStyle/>
          <a:p>
            <a:pPr algn="l">
              <a:defRPr sz="1200" b="0">
                <a:solidFill>
                  <a:srgbClr val="CCCCCC"/>
                </a:solidFill>
                <a:latin typeface="Calibri"/>
              </a:defRPr>
            </a:pPr>
            <a:r>
              <a:t>  Checkpoint after each task</a:t>
            </a:r>
          </a:p>
        </p:txBody>
      </p:sp>
      <p:sp>
        <p:nvSpPr>
          <p:cNvPr id="30" name="TextBox 29"/>
          <p:cNvSpPr txBox="1"/>
          <p:nvPr/>
        </p:nvSpPr>
        <p:spPr>
          <a:xfrm>
            <a:off x="8887968" y="3474720"/>
            <a:ext cx="274320" cy="365760"/>
          </a:xfrm>
          <a:prstGeom prst="rect">
            <a:avLst/>
          </a:prstGeom>
          <a:noFill/>
        </p:spPr>
        <p:txBody>
          <a:bodyPr wrap="square">
            <a:spAutoFit/>
          </a:bodyPr>
          <a:lstStyle/>
          <a:p>
            <a:pPr algn="ctr">
              <a:defRPr sz="2400" b="1">
                <a:solidFill>
                  <a:srgbClr val="7C5CFC"/>
                </a:solidFill>
                <a:latin typeface="Calibri"/>
              </a:defRPr>
            </a:pPr>
            <a:r>
              <a:t>&gt;</a:t>
            </a:r>
          </a:p>
        </p:txBody>
      </p:sp>
      <p:sp>
        <p:nvSpPr>
          <p:cNvPr id="31" name="Rectangle 30"/>
          <p:cNvSpPr/>
          <p:nvPr/>
        </p:nvSpPr>
        <p:spPr>
          <a:xfrm>
            <a:off x="9098280" y="1463040"/>
            <a:ext cx="2651760" cy="4754880"/>
          </a:xfrm>
          <a:prstGeom prst="rect">
            <a:avLst/>
          </a:prstGeom>
          <a:solidFill>
            <a:srgbClr val="24243E"/>
          </a:solidFill>
          <a:ln w="2540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98280" y="1600200"/>
            <a:ext cx="2651760" cy="320040"/>
          </a:xfrm>
          <a:prstGeom prst="rect">
            <a:avLst/>
          </a:prstGeom>
          <a:noFill/>
        </p:spPr>
        <p:txBody>
          <a:bodyPr wrap="square">
            <a:spAutoFit/>
          </a:bodyPr>
          <a:lstStyle/>
          <a:p>
            <a:pPr algn="ctr">
              <a:defRPr sz="1200" b="0">
                <a:solidFill>
                  <a:srgbClr val="999999"/>
                </a:solidFill>
                <a:latin typeface="Calibri"/>
              </a:defRPr>
            </a:pPr>
            <a:r>
              <a:t>PHASE 4</a:t>
            </a:r>
          </a:p>
        </p:txBody>
      </p:sp>
      <p:sp>
        <p:nvSpPr>
          <p:cNvPr id="33" name="TextBox 32"/>
          <p:cNvSpPr txBox="1"/>
          <p:nvPr/>
        </p:nvSpPr>
        <p:spPr>
          <a:xfrm>
            <a:off x="9098280" y="1874520"/>
            <a:ext cx="2651760" cy="457200"/>
          </a:xfrm>
          <a:prstGeom prst="rect">
            <a:avLst/>
          </a:prstGeom>
          <a:noFill/>
        </p:spPr>
        <p:txBody>
          <a:bodyPr wrap="square">
            <a:spAutoFit/>
          </a:bodyPr>
          <a:lstStyle/>
          <a:p>
            <a:pPr algn="ctr">
              <a:defRPr sz="2400" b="1">
                <a:solidFill>
                  <a:srgbClr val="FF8C42"/>
                </a:solidFill>
                <a:latin typeface="Calibri"/>
              </a:defRPr>
            </a:pPr>
            <a:r>
              <a:t>VERIFY</a:t>
            </a:r>
          </a:p>
        </p:txBody>
      </p:sp>
      <p:sp>
        <p:nvSpPr>
          <p:cNvPr id="34" name="TextBox 33"/>
          <p:cNvSpPr txBox="1"/>
          <p:nvPr/>
        </p:nvSpPr>
        <p:spPr>
          <a:xfrm>
            <a:off x="9281160" y="2560320"/>
            <a:ext cx="2286000" cy="320040"/>
          </a:xfrm>
          <a:prstGeom prst="rect">
            <a:avLst/>
          </a:prstGeom>
          <a:noFill/>
        </p:spPr>
        <p:txBody>
          <a:bodyPr wrap="square">
            <a:spAutoFit/>
          </a:bodyPr>
          <a:lstStyle/>
          <a:p>
            <a:pPr algn="l">
              <a:defRPr sz="1200" b="0">
                <a:solidFill>
                  <a:srgbClr val="CCCCCC"/>
                </a:solidFill>
                <a:latin typeface="Calibri"/>
              </a:defRPr>
            </a:pPr>
            <a:r>
              <a:t>  Run unit &amp; integration tests</a:t>
            </a:r>
          </a:p>
        </p:txBody>
      </p:sp>
      <p:sp>
        <p:nvSpPr>
          <p:cNvPr id="35" name="TextBox 34"/>
          <p:cNvSpPr txBox="1"/>
          <p:nvPr/>
        </p:nvSpPr>
        <p:spPr>
          <a:xfrm>
            <a:off x="9281160" y="2880360"/>
            <a:ext cx="2286000" cy="320040"/>
          </a:xfrm>
          <a:prstGeom prst="rect">
            <a:avLst/>
          </a:prstGeom>
          <a:noFill/>
        </p:spPr>
        <p:txBody>
          <a:bodyPr wrap="square">
            <a:spAutoFit/>
          </a:bodyPr>
          <a:lstStyle/>
          <a:p>
            <a:pPr algn="l">
              <a:defRPr sz="1200" b="0">
                <a:solidFill>
                  <a:srgbClr val="CCCCCC"/>
                </a:solidFill>
                <a:latin typeface="Calibri"/>
              </a:defRPr>
            </a:pPr>
            <a:r>
              <a:t>  Compare code against specs</a:t>
            </a:r>
          </a:p>
        </p:txBody>
      </p:sp>
      <p:sp>
        <p:nvSpPr>
          <p:cNvPr id="36" name="TextBox 35"/>
          <p:cNvSpPr txBox="1"/>
          <p:nvPr/>
        </p:nvSpPr>
        <p:spPr>
          <a:xfrm>
            <a:off x="9281160" y="3200400"/>
            <a:ext cx="2286000" cy="320040"/>
          </a:xfrm>
          <a:prstGeom prst="rect">
            <a:avLst/>
          </a:prstGeom>
          <a:noFill/>
        </p:spPr>
        <p:txBody>
          <a:bodyPr wrap="square">
            <a:spAutoFit/>
          </a:bodyPr>
          <a:lstStyle/>
          <a:p>
            <a:pPr algn="l">
              <a:defRPr sz="1200" b="0">
                <a:solidFill>
                  <a:srgbClr val="CCCCCC"/>
                </a:solidFill>
                <a:latin typeface="Calibri"/>
              </a:defRPr>
            </a:pPr>
            <a:r>
              <a:t>  Validate data flows</a:t>
            </a:r>
          </a:p>
        </p:txBody>
      </p:sp>
      <p:sp>
        <p:nvSpPr>
          <p:cNvPr id="37" name="TextBox 36"/>
          <p:cNvSpPr txBox="1"/>
          <p:nvPr/>
        </p:nvSpPr>
        <p:spPr>
          <a:xfrm>
            <a:off x="9281160" y="3520440"/>
            <a:ext cx="2286000" cy="320040"/>
          </a:xfrm>
          <a:prstGeom prst="rect">
            <a:avLst/>
          </a:prstGeom>
          <a:noFill/>
        </p:spPr>
        <p:txBody>
          <a:bodyPr wrap="square">
            <a:spAutoFit/>
          </a:bodyPr>
          <a:lstStyle/>
          <a:p>
            <a:pPr algn="l">
              <a:defRPr sz="1200" b="0">
                <a:solidFill>
                  <a:srgbClr val="CCCCCC"/>
                </a:solidFill>
                <a:latin typeface="Calibri"/>
              </a:defRPr>
            </a:pPr>
            <a:r>
              <a:t>  Confirm error handling</a:t>
            </a:r>
          </a:p>
        </p:txBody>
      </p:sp>
      <p:sp>
        <p:nvSpPr>
          <p:cNvPr id="38" name="TextBox 37"/>
          <p:cNvSpPr txBox="1"/>
          <p:nvPr/>
        </p:nvSpPr>
        <p:spPr>
          <a:xfrm>
            <a:off x="9281160" y="3840480"/>
            <a:ext cx="2286000" cy="320040"/>
          </a:xfrm>
          <a:prstGeom prst="rect">
            <a:avLst/>
          </a:prstGeom>
          <a:noFill/>
        </p:spPr>
        <p:txBody>
          <a:bodyPr wrap="square">
            <a:spAutoFit/>
          </a:bodyPr>
          <a:lstStyle/>
          <a:p>
            <a:pPr algn="l">
              <a:defRPr sz="1200" b="0">
                <a:solidFill>
                  <a:srgbClr val="CCCCCC"/>
                </a:solidFill>
                <a:latin typeface="Calibri"/>
              </a:defRPr>
            </a:pPr>
            <a:r>
              <a:t>  Review enhancements vs spec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ANATOMY OF A GOOD SPEC</a:t>
            </a:r>
          </a:p>
        </p:txBody>
      </p:sp>
      <p:sp>
        <p:nvSpPr>
          <p:cNvPr id="4" name="TextBox 3"/>
          <p:cNvSpPr txBox="1"/>
          <p:nvPr/>
        </p:nvSpPr>
        <p:spPr>
          <a:xfrm>
            <a:off x="731520" y="1371600"/>
            <a:ext cx="5029200" cy="365760"/>
          </a:xfrm>
          <a:prstGeom prst="rect">
            <a:avLst/>
          </a:prstGeom>
          <a:noFill/>
        </p:spPr>
        <p:txBody>
          <a:bodyPr wrap="square">
            <a:spAutoFit/>
          </a:bodyPr>
          <a:lstStyle/>
          <a:p>
            <a:pPr algn="l">
              <a:defRPr sz="2000" b="1">
                <a:solidFill>
                  <a:srgbClr val="00C97B"/>
                </a:solidFill>
                <a:latin typeface="Calibri"/>
              </a:defRPr>
            </a:pPr>
            <a:r>
              <a:t>MUST INCLUDE</a:t>
            </a:r>
          </a:p>
        </p:txBody>
      </p:sp>
      <p:sp>
        <p:nvSpPr>
          <p:cNvPr id="5" name="TextBox 4"/>
          <p:cNvSpPr txBox="1"/>
          <p:nvPr/>
        </p:nvSpPr>
        <p:spPr>
          <a:xfrm>
            <a:off x="914400" y="1920240"/>
            <a:ext cx="4846320" cy="228600"/>
          </a:xfrm>
          <a:prstGeom prst="rect">
            <a:avLst/>
          </a:prstGeom>
          <a:noFill/>
        </p:spPr>
        <p:txBody>
          <a:bodyPr wrap="square">
            <a:spAutoFit/>
          </a:bodyPr>
          <a:lstStyle/>
          <a:p>
            <a:pPr algn="l">
              <a:defRPr sz="1400" b="1">
                <a:solidFill>
                  <a:srgbClr val="00C97B"/>
                </a:solidFill>
                <a:latin typeface="Calibri"/>
              </a:defRPr>
            </a:pPr>
            <a:r>
              <a:t>File path</a:t>
            </a:r>
          </a:p>
        </p:txBody>
      </p:sp>
      <p:sp>
        <p:nvSpPr>
          <p:cNvPr id="6" name="TextBox 5"/>
          <p:cNvSpPr txBox="1"/>
          <p:nvPr/>
        </p:nvSpPr>
        <p:spPr>
          <a:xfrm>
            <a:off x="914400" y="2148840"/>
            <a:ext cx="4846320" cy="228600"/>
          </a:xfrm>
          <a:prstGeom prst="rect">
            <a:avLst/>
          </a:prstGeom>
          <a:noFill/>
        </p:spPr>
        <p:txBody>
          <a:bodyPr wrap="square">
            <a:spAutoFit/>
          </a:bodyPr>
          <a:lstStyle/>
          <a:p>
            <a:pPr algn="l">
              <a:defRPr sz="1200" b="0">
                <a:solidFill>
                  <a:srgbClr val="CCCCCC"/>
                </a:solidFill>
                <a:latin typeface="Calibri"/>
              </a:defRPr>
            </a:pPr>
            <a:r>
              <a:t>Exact location: backend/src/story/story.service.ts</a:t>
            </a:r>
          </a:p>
        </p:txBody>
      </p:sp>
      <p:sp>
        <p:nvSpPr>
          <p:cNvPr id="7" name="TextBox 6"/>
          <p:cNvSpPr txBox="1"/>
          <p:nvPr/>
        </p:nvSpPr>
        <p:spPr>
          <a:xfrm>
            <a:off x="914400" y="2423160"/>
            <a:ext cx="4846320" cy="228600"/>
          </a:xfrm>
          <a:prstGeom prst="rect">
            <a:avLst/>
          </a:prstGeom>
          <a:noFill/>
        </p:spPr>
        <p:txBody>
          <a:bodyPr wrap="square">
            <a:spAutoFit/>
          </a:bodyPr>
          <a:lstStyle/>
          <a:p>
            <a:pPr algn="l">
              <a:defRPr sz="1400" b="1">
                <a:solidFill>
                  <a:srgbClr val="00C97B"/>
                </a:solidFill>
                <a:latin typeface="Calibri"/>
              </a:defRPr>
            </a:pPr>
            <a:r>
              <a:t>Dependencies</a:t>
            </a:r>
          </a:p>
        </p:txBody>
      </p:sp>
      <p:sp>
        <p:nvSpPr>
          <p:cNvPr id="8" name="TextBox 7"/>
          <p:cNvSpPr txBox="1"/>
          <p:nvPr/>
        </p:nvSpPr>
        <p:spPr>
          <a:xfrm>
            <a:off x="914400" y="2651760"/>
            <a:ext cx="4846320" cy="228600"/>
          </a:xfrm>
          <a:prstGeom prst="rect">
            <a:avLst/>
          </a:prstGeom>
          <a:noFill/>
        </p:spPr>
        <p:txBody>
          <a:bodyPr wrap="square">
            <a:spAutoFit/>
          </a:bodyPr>
          <a:lstStyle/>
          <a:p>
            <a:pPr algn="l">
              <a:defRPr sz="1200" b="0">
                <a:solidFill>
                  <a:srgbClr val="CCCCCC"/>
                </a:solidFill>
                <a:latin typeface="Calibri"/>
              </a:defRPr>
            </a:pPr>
            <a:r>
              <a:t>What this module imports or injects</a:t>
            </a:r>
          </a:p>
        </p:txBody>
      </p:sp>
      <p:sp>
        <p:nvSpPr>
          <p:cNvPr id="9" name="TextBox 8"/>
          <p:cNvSpPr txBox="1"/>
          <p:nvPr/>
        </p:nvSpPr>
        <p:spPr>
          <a:xfrm>
            <a:off x="914400" y="2926080"/>
            <a:ext cx="4846320" cy="228600"/>
          </a:xfrm>
          <a:prstGeom prst="rect">
            <a:avLst/>
          </a:prstGeom>
          <a:noFill/>
        </p:spPr>
        <p:txBody>
          <a:bodyPr wrap="square">
            <a:spAutoFit/>
          </a:bodyPr>
          <a:lstStyle/>
          <a:p>
            <a:pPr algn="l">
              <a:defRPr sz="1400" b="1">
                <a:solidFill>
                  <a:srgbClr val="00C97B"/>
                </a:solidFill>
                <a:latin typeface="Calibri"/>
              </a:defRPr>
            </a:pPr>
            <a:r>
              <a:t>Type definitions</a:t>
            </a:r>
          </a:p>
        </p:txBody>
      </p:sp>
      <p:sp>
        <p:nvSpPr>
          <p:cNvPr id="10" name="TextBox 9"/>
          <p:cNvSpPr txBox="1"/>
          <p:nvPr/>
        </p:nvSpPr>
        <p:spPr>
          <a:xfrm>
            <a:off x="914400" y="3154680"/>
            <a:ext cx="4846320" cy="228600"/>
          </a:xfrm>
          <a:prstGeom prst="rect">
            <a:avLst/>
          </a:prstGeom>
          <a:noFill/>
        </p:spPr>
        <p:txBody>
          <a:bodyPr wrap="square">
            <a:spAutoFit/>
          </a:bodyPr>
          <a:lstStyle/>
          <a:p>
            <a:pPr algn="l">
              <a:defRPr sz="1200" b="0">
                <a:solidFill>
                  <a:srgbClr val="CCCCCC"/>
                </a:solidFill>
                <a:latin typeface="Calibri"/>
              </a:defRPr>
            </a:pPr>
            <a:r>
              <a:t>Interfaces with field-level comments</a:t>
            </a:r>
          </a:p>
        </p:txBody>
      </p:sp>
      <p:sp>
        <p:nvSpPr>
          <p:cNvPr id="11" name="TextBox 10"/>
          <p:cNvSpPr txBox="1"/>
          <p:nvPr/>
        </p:nvSpPr>
        <p:spPr>
          <a:xfrm>
            <a:off x="914400" y="3429000"/>
            <a:ext cx="4846320" cy="228600"/>
          </a:xfrm>
          <a:prstGeom prst="rect">
            <a:avLst/>
          </a:prstGeom>
          <a:noFill/>
        </p:spPr>
        <p:txBody>
          <a:bodyPr wrap="square">
            <a:spAutoFit/>
          </a:bodyPr>
          <a:lstStyle/>
          <a:p>
            <a:pPr algn="l">
              <a:defRPr sz="1400" b="1">
                <a:solidFill>
                  <a:srgbClr val="00C97B"/>
                </a:solidFill>
                <a:latin typeface="Calibri"/>
              </a:defRPr>
            </a:pPr>
            <a:r>
              <a:t>Method signatures</a:t>
            </a:r>
          </a:p>
        </p:txBody>
      </p:sp>
      <p:sp>
        <p:nvSpPr>
          <p:cNvPr id="12" name="TextBox 11"/>
          <p:cNvSpPr txBox="1"/>
          <p:nvPr/>
        </p:nvSpPr>
        <p:spPr>
          <a:xfrm>
            <a:off x="914400" y="3657600"/>
            <a:ext cx="4846320" cy="228600"/>
          </a:xfrm>
          <a:prstGeom prst="rect">
            <a:avLst/>
          </a:prstGeom>
          <a:noFill/>
        </p:spPr>
        <p:txBody>
          <a:bodyPr wrap="square">
            <a:spAutoFit/>
          </a:bodyPr>
          <a:lstStyle/>
          <a:p>
            <a:pPr algn="l">
              <a:defRPr sz="1200" b="0">
                <a:solidFill>
                  <a:srgbClr val="CCCCCC"/>
                </a:solidFill>
                <a:latin typeface="Calibri"/>
              </a:defRPr>
            </a:pPr>
            <a:r>
              <a:t>Name, parameters, return type</a:t>
            </a:r>
          </a:p>
        </p:txBody>
      </p:sp>
      <p:sp>
        <p:nvSpPr>
          <p:cNvPr id="13" name="TextBox 12"/>
          <p:cNvSpPr txBox="1"/>
          <p:nvPr/>
        </p:nvSpPr>
        <p:spPr>
          <a:xfrm>
            <a:off x="914400" y="3931920"/>
            <a:ext cx="4846320" cy="228600"/>
          </a:xfrm>
          <a:prstGeom prst="rect">
            <a:avLst/>
          </a:prstGeom>
          <a:noFill/>
        </p:spPr>
        <p:txBody>
          <a:bodyPr wrap="square">
            <a:spAutoFit/>
          </a:bodyPr>
          <a:lstStyle/>
          <a:p>
            <a:pPr algn="l">
              <a:defRPr sz="1400" b="1">
                <a:solidFill>
                  <a:srgbClr val="00C97B"/>
                </a:solidFill>
                <a:latin typeface="Calibri"/>
              </a:defRPr>
            </a:pPr>
            <a:r>
              <a:t>Behavior</a:t>
            </a:r>
          </a:p>
        </p:txBody>
      </p:sp>
      <p:sp>
        <p:nvSpPr>
          <p:cNvPr id="14" name="TextBox 13"/>
          <p:cNvSpPr txBox="1"/>
          <p:nvPr/>
        </p:nvSpPr>
        <p:spPr>
          <a:xfrm>
            <a:off x="914400" y="4160520"/>
            <a:ext cx="4846320" cy="228600"/>
          </a:xfrm>
          <a:prstGeom prst="rect">
            <a:avLst/>
          </a:prstGeom>
          <a:noFill/>
        </p:spPr>
        <p:txBody>
          <a:bodyPr wrap="square">
            <a:spAutoFit/>
          </a:bodyPr>
          <a:lstStyle/>
          <a:p>
            <a:pPr algn="l">
              <a:defRPr sz="1200" b="0">
                <a:solidFill>
                  <a:srgbClr val="CCCCCC"/>
                </a:solidFill>
                <a:latin typeface="Calibri"/>
              </a:defRPr>
            </a:pPr>
            <a:r>
              <a:t>Step-by-step logic, not just 'handles X'</a:t>
            </a:r>
          </a:p>
        </p:txBody>
      </p:sp>
      <p:sp>
        <p:nvSpPr>
          <p:cNvPr id="15" name="TextBox 14"/>
          <p:cNvSpPr txBox="1"/>
          <p:nvPr/>
        </p:nvSpPr>
        <p:spPr>
          <a:xfrm>
            <a:off x="914400" y="4434840"/>
            <a:ext cx="4846320" cy="228600"/>
          </a:xfrm>
          <a:prstGeom prst="rect">
            <a:avLst/>
          </a:prstGeom>
          <a:noFill/>
        </p:spPr>
        <p:txBody>
          <a:bodyPr wrap="square">
            <a:spAutoFit/>
          </a:bodyPr>
          <a:lstStyle/>
          <a:p>
            <a:pPr algn="l">
              <a:defRPr sz="1400" b="1">
                <a:solidFill>
                  <a:srgbClr val="00C97B"/>
                </a:solidFill>
                <a:latin typeface="Calibri"/>
              </a:defRPr>
            </a:pPr>
            <a:r>
              <a:t>Edge cases</a:t>
            </a:r>
          </a:p>
        </p:txBody>
      </p:sp>
      <p:sp>
        <p:nvSpPr>
          <p:cNvPr id="16" name="TextBox 15"/>
          <p:cNvSpPr txBox="1"/>
          <p:nvPr/>
        </p:nvSpPr>
        <p:spPr>
          <a:xfrm>
            <a:off x="914400" y="4663440"/>
            <a:ext cx="4846320" cy="228600"/>
          </a:xfrm>
          <a:prstGeom prst="rect">
            <a:avLst/>
          </a:prstGeom>
          <a:noFill/>
        </p:spPr>
        <p:txBody>
          <a:bodyPr wrap="square">
            <a:spAutoFit/>
          </a:bodyPr>
          <a:lstStyle/>
          <a:p>
            <a:pPr algn="l">
              <a:defRPr sz="1200" b="0">
                <a:solidFill>
                  <a:srgbClr val="CCCCCC"/>
                </a:solidFill>
                <a:latin typeface="Calibri"/>
              </a:defRPr>
            </a:pPr>
            <a:r>
              <a:t>What happens when things go wrong</a:t>
            </a:r>
          </a:p>
        </p:txBody>
      </p:sp>
      <p:sp>
        <p:nvSpPr>
          <p:cNvPr id="17" name="TextBox 16"/>
          <p:cNvSpPr txBox="1"/>
          <p:nvPr/>
        </p:nvSpPr>
        <p:spPr>
          <a:xfrm>
            <a:off x="6400800" y="1371600"/>
            <a:ext cx="5029200" cy="365760"/>
          </a:xfrm>
          <a:prstGeom prst="rect">
            <a:avLst/>
          </a:prstGeom>
          <a:noFill/>
        </p:spPr>
        <p:txBody>
          <a:bodyPr wrap="square">
            <a:spAutoFit/>
          </a:bodyPr>
          <a:lstStyle/>
          <a:p>
            <a:pPr algn="l">
              <a:defRPr sz="2000" b="1">
                <a:solidFill>
                  <a:srgbClr val="FF5C5C"/>
                </a:solidFill>
                <a:latin typeface="Calibri"/>
              </a:defRPr>
            </a:pPr>
            <a:r>
              <a:t>MUST AVOID</a:t>
            </a:r>
          </a:p>
        </p:txBody>
      </p:sp>
      <p:sp>
        <p:nvSpPr>
          <p:cNvPr id="18" name="TextBox 17"/>
          <p:cNvSpPr txBox="1"/>
          <p:nvPr/>
        </p:nvSpPr>
        <p:spPr>
          <a:xfrm>
            <a:off x="6583680" y="1920240"/>
            <a:ext cx="4846320" cy="228600"/>
          </a:xfrm>
          <a:prstGeom prst="rect">
            <a:avLst/>
          </a:prstGeom>
          <a:noFill/>
        </p:spPr>
        <p:txBody>
          <a:bodyPr wrap="square">
            <a:spAutoFit/>
          </a:bodyPr>
          <a:lstStyle/>
          <a:p>
            <a:pPr algn="l">
              <a:defRPr sz="1400" b="1">
                <a:solidFill>
                  <a:srgbClr val="FF5C5C"/>
                </a:solidFill>
                <a:latin typeface="Calibri"/>
              </a:defRPr>
            </a:pPr>
            <a:r>
              <a:t>Vague descriptions</a:t>
            </a:r>
          </a:p>
        </p:txBody>
      </p:sp>
      <p:sp>
        <p:nvSpPr>
          <p:cNvPr id="19" name="TextBox 18"/>
          <p:cNvSpPr txBox="1"/>
          <p:nvPr/>
        </p:nvSpPr>
        <p:spPr>
          <a:xfrm>
            <a:off x="6583680" y="2148840"/>
            <a:ext cx="4846320" cy="228600"/>
          </a:xfrm>
          <a:prstGeom prst="rect">
            <a:avLst/>
          </a:prstGeom>
          <a:noFill/>
        </p:spPr>
        <p:txBody>
          <a:bodyPr wrap="square">
            <a:spAutoFit/>
          </a:bodyPr>
          <a:lstStyle/>
          <a:p>
            <a:pPr algn="l">
              <a:defRPr sz="1200" b="0">
                <a:solidFill>
                  <a:srgbClr val="CCCCCC"/>
                </a:solidFill>
                <a:latin typeface="Calibri"/>
              </a:defRPr>
            </a:pPr>
            <a:r>
              <a:t>"Handles the data" - AI can't infer intent</a:t>
            </a:r>
          </a:p>
        </p:txBody>
      </p:sp>
      <p:sp>
        <p:nvSpPr>
          <p:cNvPr id="20" name="TextBox 19"/>
          <p:cNvSpPr txBox="1"/>
          <p:nvPr/>
        </p:nvSpPr>
        <p:spPr>
          <a:xfrm>
            <a:off x="6583680" y="2423160"/>
            <a:ext cx="4846320" cy="228600"/>
          </a:xfrm>
          <a:prstGeom prst="rect">
            <a:avLst/>
          </a:prstGeom>
          <a:noFill/>
        </p:spPr>
        <p:txBody>
          <a:bodyPr wrap="square">
            <a:spAutoFit/>
          </a:bodyPr>
          <a:lstStyle/>
          <a:p>
            <a:pPr algn="l">
              <a:defRPr sz="1400" b="1">
                <a:solidFill>
                  <a:srgbClr val="FF5C5C"/>
                </a:solidFill>
                <a:latin typeface="Calibri"/>
              </a:defRPr>
            </a:pPr>
            <a:r>
              <a:t>Missing types</a:t>
            </a:r>
          </a:p>
        </p:txBody>
      </p:sp>
      <p:sp>
        <p:nvSpPr>
          <p:cNvPr id="21" name="TextBox 20"/>
          <p:cNvSpPr txBox="1"/>
          <p:nvPr/>
        </p:nvSpPr>
        <p:spPr>
          <a:xfrm>
            <a:off x="6583680" y="2651760"/>
            <a:ext cx="4846320" cy="228600"/>
          </a:xfrm>
          <a:prstGeom prst="rect">
            <a:avLst/>
          </a:prstGeom>
          <a:noFill/>
        </p:spPr>
        <p:txBody>
          <a:bodyPr wrap="square">
            <a:spAutoFit/>
          </a:bodyPr>
          <a:lstStyle/>
          <a:p>
            <a:pPr algn="l">
              <a:defRPr sz="1200" b="0">
                <a:solidFill>
                  <a:srgbClr val="CCCCCC"/>
                </a:solidFill>
                <a:latin typeface="Calibri"/>
              </a:defRPr>
            </a:pPr>
            <a:r>
              <a:t>Leads to inconsistent implementations</a:t>
            </a:r>
          </a:p>
        </p:txBody>
      </p:sp>
      <p:sp>
        <p:nvSpPr>
          <p:cNvPr id="22" name="TextBox 21"/>
          <p:cNvSpPr txBox="1"/>
          <p:nvPr/>
        </p:nvSpPr>
        <p:spPr>
          <a:xfrm>
            <a:off x="6583680" y="2926080"/>
            <a:ext cx="4846320" cy="228600"/>
          </a:xfrm>
          <a:prstGeom prst="rect">
            <a:avLst/>
          </a:prstGeom>
          <a:noFill/>
        </p:spPr>
        <p:txBody>
          <a:bodyPr wrap="square">
            <a:spAutoFit/>
          </a:bodyPr>
          <a:lstStyle/>
          <a:p>
            <a:pPr algn="l">
              <a:defRPr sz="1400" b="1">
                <a:solidFill>
                  <a:srgbClr val="FF5C5C"/>
                </a:solidFill>
                <a:latin typeface="Calibri"/>
              </a:defRPr>
            </a:pPr>
            <a:r>
              <a:t>Implicit assumptions</a:t>
            </a:r>
          </a:p>
        </p:txBody>
      </p:sp>
      <p:sp>
        <p:nvSpPr>
          <p:cNvPr id="23" name="TextBox 22"/>
          <p:cNvSpPr txBox="1"/>
          <p:nvPr/>
        </p:nvSpPr>
        <p:spPr>
          <a:xfrm>
            <a:off x="6583680" y="3154680"/>
            <a:ext cx="4846320" cy="228600"/>
          </a:xfrm>
          <a:prstGeom prst="rect">
            <a:avLst/>
          </a:prstGeom>
          <a:noFill/>
        </p:spPr>
        <p:txBody>
          <a:bodyPr wrap="square">
            <a:spAutoFit/>
          </a:bodyPr>
          <a:lstStyle/>
          <a:p>
            <a:pPr algn="l">
              <a:defRPr sz="1200" b="0">
                <a:solidFill>
                  <a:srgbClr val="CCCCCC"/>
                </a:solidFill>
                <a:latin typeface="Calibri"/>
              </a:defRPr>
            </a:pPr>
            <a:r>
              <a:t>If not in spec, it doesn't exist</a:t>
            </a:r>
          </a:p>
        </p:txBody>
      </p:sp>
      <p:sp>
        <p:nvSpPr>
          <p:cNvPr id="24" name="TextBox 23"/>
          <p:cNvSpPr txBox="1"/>
          <p:nvPr/>
        </p:nvSpPr>
        <p:spPr>
          <a:xfrm>
            <a:off x="6583680" y="3429000"/>
            <a:ext cx="4846320" cy="228600"/>
          </a:xfrm>
          <a:prstGeom prst="rect">
            <a:avLst/>
          </a:prstGeom>
          <a:noFill/>
        </p:spPr>
        <p:txBody>
          <a:bodyPr wrap="square">
            <a:spAutoFit/>
          </a:bodyPr>
          <a:lstStyle/>
          <a:p>
            <a:pPr algn="l">
              <a:defRPr sz="1400" b="1">
                <a:solidFill>
                  <a:srgbClr val="FF5C5C"/>
                </a:solidFill>
                <a:latin typeface="Calibri"/>
              </a:defRPr>
            </a:pPr>
            <a:r>
              <a:t>Over-specification</a:t>
            </a:r>
          </a:p>
        </p:txBody>
      </p:sp>
      <p:sp>
        <p:nvSpPr>
          <p:cNvPr id="25" name="TextBox 24"/>
          <p:cNvSpPr txBox="1"/>
          <p:nvPr/>
        </p:nvSpPr>
        <p:spPr>
          <a:xfrm>
            <a:off x="6583680" y="3657600"/>
            <a:ext cx="4846320" cy="228600"/>
          </a:xfrm>
          <a:prstGeom prst="rect">
            <a:avLst/>
          </a:prstGeom>
          <a:noFill/>
        </p:spPr>
        <p:txBody>
          <a:bodyPr wrap="square">
            <a:spAutoFit/>
          </a:bodyPr>
          <a:lstStyle/>
          <a:p>
            <a:pPr algn="l">
              <a:defRPr sz="1200" b="0">
                <a:solidFill>
                  <a:srgbClr val="CCCCCC"/>
                </a:solidFill>
                <a:latin typeface="Calibri"/>
              </a:defRPr>
            </a:pPr>
            <a:r>
              <a:t>Spec the what, not every line of code</a:t>
            </a:r>
          </a:p>
        </p:txBody>
      </p:sp>
      <p:sp>
        <p:nvSpPr>
          <p:cNvPr id="26" name="TextBox 25"/>
          <p:cNvSpPr txBox="1"/>
          <p:nvPr/>
        </p:nvSpPr>
        <p:spPr>
          <a:xfrm>
            <a:off x="731520" y="5029200"/>
            <a:ext cx="10515600" cy="365760"/>
          </a:xfrm>
          <a:prstGeom prst="rect">
            <a:avLst/>
          </a:prstGeom>
          <a:noFill/>
        </p:spPr>
        <p:txBody>
          <a:bodyPr wrap="square">
            <a:spAutoFit/>
          </a:bodyPr>
          <a:lstStyle/>
          <a:p>
            <a:pPr algn="l">
              <a:defRPr sz="1600" b="1">
                <a:solidFill>
                  <a:srgbClr val="7C5CFC"/>
                </a:solidFill>
                <a:latin typeface="Calibri"/>
              </a:defRPr>
            </a:pPr>
            <a:r>
              <a:t>EXAMPLE: StoryService Spec</a:t>
            </a:r>
          </a:p>
        </p:txBody>
      </p:sp>
      <p:sp>
        <p:nvSpPr>
          <p:cNvPr id="27" name="Rectangle 26"/>
          <p:cNvSpPr/>
          <p:nvPr/>
        </p:nvSpPr>
        <p:spPr>
          <a:xfrm>
            <a:off x="731520" y="5440680"/>
            <a:ext cx="10515600" cy="1097280"/>
          </a:xfrm>
          <a:prstGeom prst="rect">
            <a:avLst/>
          </a:prstGeom>
          <a:solidFill>
            <a:srgbClr val="151525"/>
          </a:solidFill>
          <a:ln w="12700">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532120"/>
            <a:ext cx="10058400" cy="914400"/>
          </a:xfrm>
          <a:prstGeom prst="rect">
            <a:avLst/>
          </a:prstGeom>
          <a:noFill/>
        </p:spPr>
        <p:txBody>
          <a:bodyPr wrap="square">
            <a:spAutoFit/>
          </a:bodyPr>
          <a:lstStyle/>
          <a:p>
            <a:pPr algn="l">
              <a:defRPr sz="1200" b="0">
                <a:solidFill>
                  <a:srgbClr val="00C97B"/>
                </a:solidFill>
                <a:latin typeface="Courier New"/>
              </a:defRPr>
            </a:pPr>
            <a:r>
              <a:t>createSession(): StorySession  -&gt;  Generate UUID, create StorySession, store in Map, return session</a:t>
            </a:r>
            <a:br/>
            <a:r>
              <a:t>getSession(id: string): StorySession  -&gt;  Retrieve from Map or throw NotFoundException</a:t>
            </a:r>
            <a:br/>
            <a:r>
              <a:t>streamStory(id: string): AsyncGenerator&lt;StoryEvent&gt;  -&gt;  Loop 1-15, pause-check, call agent, yield event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WHY SDD FOR AI-ASSISTED DEVELOPMENT?</a:t>
            </a:r>
          </a:p>
        </p:txBody>
      </p:sp>
      <p:sp>
        <p:nvSpPr>
          <p:cNvPr id="4" name="Rectangle 3"/>
          <p:cNvSpPr/>
          <p:nvPr/>
        </p:nvSpPr>
        <p:spPr>
          <a:xfrm>
            <a:off x="457200" y="1463040"/>
            <a:ext cx="3566160" cy="2103120"/>
          </a:xfrm>
          <a:prstGeom prst="rect">
            <a:avLst/>
          </a:prstGeom>
          <a:solidFill>
            <a:srgbClr val="24243E"/>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3200400" cy="365760"/>
          </a:xfrm>
          <a:prstGeom prst="rect">
            <a:avLst/>
          </a:prstGeom>
          <a:noFill/>
        </p:spPr>
        <p:txBody>
          <a:bodyPr wrap="square">
            <a:spAutoFit/>
          </a:bodyPr>
          <a:lstStyle/>
          <a:p>
            <a:pPr algn="l">
              <a:defRPr sz="1600" b="1">
                <a:solidFill>
                  <a:srgbClr val="0096D6"/>
                </a:solidFill>
                <a:latin typeface="Calibri"/>
              </a:defRPr>
            </a:pPr>
            <a:r>
              <a:t>PRECISE INSTRUCTIONS</a:t>
            </a:r>
          </a:p>
        </p:txBody>
      </p:sp>
      <p:sp>
        <p:nvSpPr>
          <p:cNvPr id="6" name="TextBox 5"/>
          <p:cNvSpPr txBox="1"/>
          <p:nvPr/>
        </p:nvSpPr>
        <p:spPr>
          <a:xfrm>
            <a:off x="640080" y="2103120"/>
            <a:ext cx="3200400" cy="1280160"/>
          </a:xfrm>
          <a:prstGeom prst="rect">
            <a:avLst/>
          </a:prstGeom>
          <a:noFill/>
        </p:spPr>
        <p:txBody>
          <a:bodyPr wrap="square">
            <a:spAutoFit/>
          </a:bodyPr>
          <a:lstStyle/>
          <a:p>
            <a:pPr algn="l">
              <a:defRPr sz="1300" b="0">
                <a:solidFill>
                  <a:srgbClr val="CCCCCC"/>
                </a:solidFill>
                <a:latin typeface="Calibri"/>
              </a:defRPr>
            </a:pPr>
            <a:r>
              <a:t>AI agents need unambiguous specs, not vague prompts. Specs eliminate guesswork and produce deterministic output.</a:t>
            </a:r>
          </a:p>
        </p:txBody>
      </p:sp>
      <p:sp>
        <p:nvSpPr>
          <p:cNvPr id="7" name="Rectangle 6"/>
          <p:cNvSpPr/>
          <p:nvPr/>
        </p:nvSpPr>
        <p:spPr>
          <a:xfrm>
            <a:off x="4297680" y="1463040"/>
            <a:ext cx="3566160" cy="2103120"/>
          </a:xfrm>
          <a:prstGeom prst="rect">
            <a:avLst/>
          </a:prstGeom>
          <a:solidFill>
            <a:srgbClr val="24243E"/>
          </a:solidFill>
          <a:ln w="19050">
            <a:solidFill>
              <a:srgbClr val="00C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645920"/>
            <a:ext cx="3200400" cy="365760"/>
          </a:xfrm>
          <a:prstGeom prst="rect">
            <a:avLst/>
          </a:prstGeom>
          <a:noFill/>
        </p:spPr>
        <p:txBody>
          <a:bodyPr wrap="square">
            <a:spAutoFit/>
          </a:bodyPr>
          <a:lstStyle/>
          <a:p>
            <a:pPr algn="l">
              <a:defRPr sz="1600" b="1">
                <a:solidFill>
                  <a:srgbClr val="00C97B"/>
                </a:solidFill>
                <a:latin typeface="Calibri"/>
              </a:defRPr>
            </a:pPr>
            <a:r>
              <a:t>PARALLEL EXECUTION</a:t>
            </a:r>
          </a:p>
        </p:txBody>
      </p:sp>
      <p:sp>
        <p:nvSpPr>
          <p:cNvPr id="9" name="TextBox 8"/>
          <p:cNvSpPr txBox="1"/>
          <p:nvPr/>
        </p:nvSpPr>
        <p:spPr>
          <a:xfrm>
            <a:off x="4480560" y="2103120"/>
            <a:ext cx="3200400" cy="1280160"/>
          </a:xfrm>
          <a:prstGeom prst="rect">
            <a:avLst/>
          </a:prstGeom>
          <a:noFill/>
        </p:spPr>
        <p:txBody>
          <a:bodyPr wrap="square">
            <a:spAutoFit/>
          </a:bodyPr>
          <a:lstStyle/>
          <a:p>
            <a:pPr algn="l">
              <a:defRPr sz="1300" b="0">
                <a:solidFill>
                  <a:srgbClr val="CCCCCC"/>
                </a:solidFill>
                <a:latin typeface="Calibri"/>
              </a:defRPr>
            </a:pPr>
            <a:r>
              <a:t>Atomic specs let multiple AI agents implement different parts simultaneously. Agent 1 builds backend while Agent 2 builds frontend.</a:t>
            </a:r>
          </a:p>
        </p:txBody>
      </p:sp>
      <p:sp>
        <p:nvSpPr>
          <p:cNvPr id="10" name="Rectangle 9"/>
          <p:cNvSpPr/>
          <p:nvPr/>
        </p:nvSpPr>
        <p:spPr>
          <a:xfrm>
            <a:off x="8138160" y="1463040"/>
            <a:ext cx="3566160" cy="2103120"/>
          </a:xfrm>
          <a:prstGeom prst="rect">
            <a:avLst/>
          </a:prstGeom>
          <a:solidFill>
            <a:srgbClr val="24243E"/>
          </a:solidFill>
          <a:ln w="19050">
            <a:solidFill>
              <a:srgbClr val="7C5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3200400" cy="365760"/>
          </a:xfrm>
          <a:prstGeom prst="rect">
            <a:avLst/>
          </a:prstGeom>
          <a:noFill/>
        </p:spPr>
        <p:txBody>
          <a:bodyPr wrap="square">
            <a:spAutoFit/>
          </a:bodyPr>
          <a:lstStyle/>
          <a:p>
            <a:pPr algn="l">
              <a:defRPr sz="1600" b="1">
                <a:solidFill>
                  <a:srgbClr val="7C5CFC"/>
                </a:solidFill>
                <a:latin typeface="Calibri"/>
              </a:defRPr>
            </a:pPr>
            <a:r>
              <a:t>EASY VERIFICATION</a:t>
            </a:r>
          </a:p>
        </p:txBody>
      </p:sp>
      <p:sp>
        <p:nvSpPr>
          <p:cNvPr id="12" name="TextBox 11"/>
          <p:cNvSpPr txBox="1"/>
          <p:nvPr/>
        </p:nvSpPr>
        <p:spPr>
          <a:xfrm>
            <a:off x="8321040" y="2103120"/>
            <a:ext cx="3200400" cy="1280160"/>
          </a:xfrm>
          <a:prstGeom prst="rect">
            <a:avLst/>
          </a:prstGeom>
          <a:noFill/>
        </p:spPr>
        <p:txBody>
          <a:bodyPr wrap="square">
            <a:spAutoFit/>
          </a:bodyPr>
          <a:lstStyle/>
          <a:p>
            <a:pPr algn="l">
              <a:defRPr sz="1300" b="0">
                <a:solidFill>
                  <a:srgbClr val="CCCCCC"/>
                </a:solidFill>
                <a:latin typeface="Calibri"/>
              </a:defRPr>
            </a:pPr>
            <a:r>
              <a:t>Review is simple: does the code match the spec? Deviations are immediately visible.</a:t>
            </a:r>
          </a:p>
        </p:txBody>
      </p:sp>
      <p:sp>
        <p:nvSpPr>
          <p:cNvPr id="13" name="Rectangle 12"/>
          <p:cNvSpPr/>
          <p:nvPr/>
        </p:nvSpPr>
        <p:spPr>
          <a:xfrm>
            <a:off x="457200" y="3931920"/>
            <a:ext cx="3566160" cy="2103120"/>
          </a:xfrm>
          <a:prstGeom prst="rect">
            <a:avLst/>
          </a:prstGeom>
          <a:solidFill>
            <a:srgbClr val="24243E"/>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14800"/>
            <a:ext cx="3200400" cy="365760"/>
          </a:xfrm>
          <a:prstGeom prst="rect">
            <a:avLst/>
          </a:prstGeom>
          <a:noFill/>
        </p:spPr>
        <p:txBody>
          <a:bodyPr wrap="square">
            <a:spAutoFit/>
          </a:bodyPr>
          <a:lstStyle/>
          <a:p>
            <a:pPr algn="l">
              <a:defRPr sz="1600" b="1">
                <a:solidFill>
                  <a:srgbClr val="FF8C42"/>
                </a:solidFill>
                <a:latin typeface="Calibri"/>
              </a:defRPr>
            </a:pPr>
            <a:r>
              <a:t>REDUCED ITERATIONS</a:t>
            </a:r>
          </a:p>
        </p:txBody>
      </p:sp>
      <p:sp>
        <p:nvSpPr>
          <p:cNvPr id="15" name="TextBox 14"/>
          <p:cNvSpPr txBox="1"/>
          <p:nvPr/>
        </p:nvSpPr>
        <p:spPr>
          <a:xfrm>
            <a:off x="640080" y="4572000"/>
            <a:ext cx="3200400" cy="1280160"/>
          </a:xfrm>
          <a:prstGeom prst="rect">
            <a:avLst/>
          </a:prstGeom>
          <a:noFill/>
        </p:spPr>
        <p:txBody>
          <a:bodyPr wrap="square">
            <a:spAutoFit/>
          </a:bodyPr>
          <a:lstStyle/>
          <a:p>
            <a:pPr algn="l">
              <a:defRPr sz="1300" b="0">
                <a:solidFill>
                  <a:srgbClr val="CCCCCC"/>
                </a:solidFill>
                <a:latin typeface="Calibri"/>
              </a:defRPr>
            </a:pPr>
            <a:r>
              <a:t>No more prompt &gt; wrong output &gt; fix &gt; repeat cycles. Detailed spec &gt; correct output &gt; done.</a:t>
            </a:r>
          </a:p>
        </p:txBody>
      </p:sp>
      <p:sp>
        <p:nvSpPr>
          <p:cNvPr id="16" name="Rectangle 15"/>
          <p:cNvSpPr/>
          <p:nvPr/>
        </p:nvSpPr>
        <p:spPr>
          <a:xfrm>
            <a:off x="4297680" y="3931920"/>
            <a:ext cx="3566160" cy="2103120"/>
          </a:xfrm>
          <a:prstGeom prst="rect">
            <a:avLst/>
          </a:prstGeom>
          <a:solidFill>
            <a:srgbClr val="24243E"/>
          </a:solidFill>
          <a:ln w="1905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4114800"/>
            <a:ext cx="3200400" cy="365760"/>
          </a:xfrm>
          <a:prstGeom prst="rect">
            <a:avLst/>
          </a:prstGeom>
          <a:noFill/>
        </p:spPr>
        <p:txBody>
          <a:bodyPr wrap="square">
            <a:spAutoFit/>
          </a:bodyPr>
          <a:lstStyle/>
          <a:p>
            <a:pPr algn="l">
              <a:defRPr sz="1600" b="1">
                <a:solidFill>
                  <a:srgbClr val="00BCD4"/>
                </a:solidFill>
                <a:latin typeface="Calibri"/>
              </a:defRPr>
            </a:pPr>
            <a:r>
              <a:t>BUILT-IN DOCUMENTATION</a:t>
            </a:r>
          </a:p>
        </p:txBody>
      </p:sp>
      <p:sp>
        <p:nvSpPr>
          <p:cNvPr id="18" name="TextBox 17"/>
          <p:cNvSpPr txBox="1"/>
          <p:nvPr/>
        </p:nvSpPr>
        <p:spPr>
          <a:xfrm>
            <a:off x="4480560" y="4572000"/>
            <a:ext cx="3200400" cy="1280160"/>
          </a:xfrm>
          <a:prstGeom prst="rect">
            <a:avLst/>
          </a:prstGeom>
          <a:noFill/>
        </p:spPr>
        <p:txBody>
          <a:bodyPr wrap="square">
            <a:spAutoFit/>
          </a:bodyPr>
          <a:lstStyle/>
          <a:p>
            <a:pPr algn="l">
              <a:defRPr sz="1300" b="0">
                <a:solidFill>
                  <a:srgbClr val="CCCCCC"/>
                </a:solidFill>
                <a:latin typeface="Calibri"/>
              </a:defRPr>
            </a:pPr>
            <a:r>
              <a:t>Specs ARE the documentation. New team members (human or AI) can understand the system from specs alone.</a:t>
            </a:r>
          </a:p>
        </p:txBody>
      </p:sp>
      <p:sp>
        <p:nvSpPr>
          <p:cNvPr id="19" name="Rectangle 18"/>
          <p:cNvSpPr/>
          <p:nvPr/>
        </p:nvSpPr>
        <p:spPr>
          <a:xfrm>
            <a:off x="8138160" y="3931920"/>
            <a:ext cx="3566160" cy="2103120"/>
          </a:xfrm>
          <a:prstGeom prst="rect">
            <a:avLst/>
          </a:prstGeom>
          <a:solidFill>
            <a:srgbClr val="24243E"/>
          </a:solidFill>
          <a:ln w="1905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4114800"/>
            <a:ext cx="3200400" cy="365760"/>
          </a:xfrm>
          <a:prstGeom prst="rect">
            <a:avLst/>
          </a:prstGeom>
          <a:noFill/>
        </p:spPr>
        <p:txBody>
          <a:bodyPr wrap="square">
            <a:spAutoFit/>
          </a:bodyPr>
          <a:lstStyle/>
          <a:p>
            <a:pPr algn="l">
              <a:defRPr sz="1600" b="1">
                <a:solidFill>
                  <a:srgbClr val="FFD54F"/>
                </a:solidFill>
                <a:latin typeface="Calibri"/>
              </a:defRPr>
            </a:pPr>
            <a:r>
              <a:t>KNOWLEDGE TRANSFER</a:t>
            </a:r>
          </a:p>
        </p:txBody>
      </p:sp>
      <p:sp>
        <p:nvSpPr>
          <p:cNvPr id="21" name="TextBox 20"/>
          <p:cNvSpPr txBox="1"/>
          <p:nvPr/>
        </p:nvSpPr>
        <p:spPr>
          <a:xfrm>
            <a:off x="8321040" y="4572000"/>
            <a:ext cx="3200400" cy="1280160"/>
          </a:xfrm>
          <a:prstGeom prst="rect">
            <a:avLst/>
          </a:prstGeom>
          <a:noFill/>
        </p:spPr>
        <p:txBody>
          <a:bodyPr wrap="square">
            <a:spAutoFit/>
          </a:bodyPr>
          <a:lstStyle/>
          <a:p>
            <a:pPr algn="l">
              <a:defRPr sz="1300" b="0">
                <a:solidFill>
                  <a:srgbClr val="CCCCCC"/>
                </a:solidFill>
                <a:latin typeface="Calibri"/>
              </a:defRPr>
            </a:pPr>
            <a:r>
              <a:t>Specs outlive any single AI conversation. They capture design decisions permanently.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REAL-WORLD EXAMPLE: OUR PROJECT</a:t>
            </a:r>
          </a:p>
        </p:txBody>
      </p:sp>
      <p:sp>
        <p:nvSpPr>
          <p:cNvPr id="4" name="TextBox 3"/>
          <p:cNvSpPr txBox="1"/>
          <p:nvPr/>
        </p:nvSpPr>
        <p:spPr>
          <a:xfrm>
            <a:off x="731520" y="1097280"/>
            <a:ext cx="10058400" cy="457200"/>
          </a:xfrm>
          <a:prstGeom prst="rect">
            <a:avLst/>
          </a:prstGeom>
          <a:noFill/>
        </p:spPr>
        <p:txBody>
          <a:bodyPr wrap="square">
            <a:spAutoFit/>
          </a:bodyPr>
          <a:lstStyle/>
          <a:p>
            <a:pPr algn="l">
              <a:defRPr sz="1800" b="0">
                <a:solidFill>
                  <a:srgbClr val="CCCCCC"/>
                </a:solidFill>
                <a:latin typeface="Calibri"/>
              </a:defRPr>
            </a:pPr>
            <a:r>
              <a:t>Multi-Agent AI Storytelling App — Built spec-first with AI agents</a:t>
            </a:r>
          </a:p>
        </p:txBody>
      </p:sp>
      <p:sp>
        <p:nvSpPr>
          <p:cNvPr id="5" name="Rectangle 4"/>
          <p:cNvSpPr/>
          <p:nvPr/>
        </p:nvSpPr>
        <p:spPr>
          <a:xfrm>
            <a:off x="457200" y="1828800"/>
            <a:ext cx="2286000" cy="1463040"/>
          </a:xfrm>
          <a:prstGeom prst="rect">
            <a:avLst/>
          </a:prstGeom>
          <a:solidFill>
            <a:srgbClr val="24243E"/>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2286000" cy="640080"/>
          </a:xfrm>
          <a:prstGeom prst="rect">
            <a:avLst/>
          </a:prstGeom>
          <a:noFill/>
        </p:spPr>
        <p:txBody>
          <a:bodyPr wrap="square">
            <a:spAutoFit/>
          </a:bodyPr>
          <a:lstStyle/>
          <a:p>
            <a:pPr algn="ctr">
              <a:defRPr sz="3600" b="1">
                <a:solidFill>
                  <a:srgbClr val="0096D6"/>
                </a:solidFill>
                <a:latin typeface="Calibri"/>
              </a:defRPr>
            </a:pPr>
            <a:r>
              <a:t>14</a:t>
            </a:r>
          </a:p>
        </p:txBody>
      </p:sp>
      <p:sp>
        <p:nvSpPr>
          <p:cNvPr id="7" name="TextBox 6"/>
          <p:cNvSpPr txBox="1"/>
          <p:nvPr/>
        </p:nvSpPr>
        <p:spPr>
          <a:xfrm>
            <a:off x="594360" y="2651760"/>
            <a:ext cx="2011680" cy="548640"/>
          </a:xfrm>
          <a:prstGeom prst="rect">
            <a:avLst/>
          </a:prstGeom>
          <a:noFill/>
        </p:spPr>
        <p:txBody>
          <a:bodyPr wrap="square">
            <a:spAutoFit/>
          </a:bodyPr>
          <a:lstStyle/>
          <a:p>
            <a:pPr algn="ctr">
              <a:defRPr sz="1300" b="0">
                <a:solidFill>
                  <a:srgbClr val="CCCCCC"/>
                </a:solidFill>
                <a:latin typeface="Calibri"/>
              </a:defRPr>
            </a:pPr>
            <a:r>
              <a:t>Specification Files</a:t>
            </a:r>
          </a:p>
        </p:txBody>
      </p:sp>
      <p:sp>
        <p:nvSpPr>
          <p:cNvPr id="8" name="Rectangle 7"/>
          <p:cNvSpPr/>
          <p:nvPr/>
        </p:nvSpPr>
        <p:spPr>
          <a:xfrm>
            <a:off x="3017520" y="1828800"/>
            <a:ext cx="2286000" cy="1463040"/>
          </a:xfrm>
          <a:prstGeom prst="rect">
            <a:avLst/>
          </a:prstGeom>
          <a:solidFill>
            <a:srgbClr val="24243E"/>
          </a:solidFill>
          <a:ln w="19050">
            <a:solidFill>
              <a:srgbClr val="00C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2011680"/>
            <a:ext cx="2286000" cy="640080"/>
          </a:xfrm>
          <a:prstGeom prst="rect">
            <a:avLst/>
          </a:prstGeom>
          <a:noFill/>
        </p:spPr>
        <p:txBody>
          <a:bodyPr wrap="square">
            <a:spAutoFit/>
          </a:bodyPr>
          <a:lstStyle/>
          <a:p>
            <a:pPr algn="ctr">
              <a:defRPr sz="3600" b="1">
                <a:solidFill>
                  <a:srgbClr val="00C97B"/>
                </a:solidFill>
                <a:latin typeface="Calibri"/>
              </a:defRPr>
            </a:pPr>
            <a:r>
              <a:t>1,037</a:t>
            </a:r>
          </a:p>
        </p:txBody>
      </p:sp>
      <p:sp>
        <p:nvSpPr>
          <p:cNvPr id="10" name="TextBox 9"/>
          <p:cNvSpPr txBox="1"/>
          <p:nvPr/>
        </p:nvSpPr>
        <p:spPr>
          <a:xfrm>
            <a:off x="3154680" y="2651760"/>
            <a:ext cx="2011680" cy="548640"/>
          </a:xfrm>
          <a:prstGeom prst="rect">
            <a:avLst/>
          </a:prstGeom>
          <a:noFill/>
        </p:spPr>
        <p:txBody>
          <a:bodyPr wrap="square">
            <a:spAutoFit/>
          </a:bodyPr>
          <a:lstStyle/>
          <a:p>
            <a:pPr algn="ctr">
              <a:defRPr sz="1300" b="0">
                <a:solidFill>
                  <a:srgbClr val="CCCCCC"/>
                </a:solidFill>
                <a:latin typeface="Calibri"/>
              </a:defRPr>
            </a:pPr>
            <a:r>
              <a:t>Lines of Specs</a:t>
            </a:r>
          </a:p>
        </p:txBody>
      </p:sp>
      <p:sp>
        <p:nvSpPr>
          <p:cNvPr id="11" name="Rectangle 10"/>
          <p:cNvSpPr/>
          <p:nvPr/>
        </p:nvSpPr>
        <p:spPr>
          <a:xfrm>
            <a:off x="5577840" y="1828800"/>
            <a:ext cx="2286000" cy="1463040"/>
          </a:xfrm>
          <a:prstGeom prst="rect">
            <a:avLst/>
          </a:prstGeom>
          <a:solidFill>
            <a:srgbClr val="24243E"/>
          </a:solidFill>
          <a:ln w="19050">
            <a:solidFill>
              <a:srgbClr val="7C5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2011680"/>
            <a:ext cx="2286000" cy="640080"/>
          </a:xfrm>
          <a:prstGeom prst="rect">
            <a:avLst/>
          </a:prstGeom>
          <a:noFill/>
        </p:spPr>
        <p:txBody>
          <a:bodyPr wrap="square">
            <a:spAutoFit/>
          </a:bodyPr>
          <a:lstStyle/>
          <a:p>
            <a:pPr algn="ctr">
              <a:defRPr sz="3600" b="1">
                <a:solidFill>
                  <a:srgbClr val="7C5CFC"/>
                </a:solidFill>
                <a:latin typeface="Calibri"/>
              </a:defRPr>
            </a:pPr>
            <a:r>
              <a:t>9/10</a:t>
            </a:r>
          </a:p>
        </p:txBody>
      </p:sp>
      <p:sp>
        <p:nvSpPr>
          <p:cNvPr id="13" name="TextBox 12"/>
          <p:cNvSpPr txBox="1"/>
          <p:nvPr/>
        </p:nvSpPr>
        <p:spPr>
          <a:xfrm>
            <a:off x="5715000" y="2651760"/>
            <a:ext cx="2011680" cy="548640"/>
          </a:xfrm>
          <a:prstGeom prst="rect">
            <a:avLst/>
          </a:prstGeom>
          <a:noFill/>
        </p:spPr>
        <p:txBody>
          <a:bodyPr wrap="square">
            <a:spAutoFit/>
          </a:bodyPr>
          <a:lstStyle/>
          <a:p>
            <a:pPr algn="ctr">
              <a:defRPr sz="1300" b="0">
                <a:solidFill>
                  <a:srgbClr val="CCCCCC"/>
                </a:solidFill>
                <a:latin typeface="Calibri"/>
              </a:defRPr>
            </a:pPr>
            <a:r>
              <a:t>SDD Process Score</a:t>
            </a:r>
          </a:p>
        </p:txBody>
      </p:sp>
      <p:sp>
        <p:nvSpPr>
          <p:cNvPr id="14" name="Rectangle 13"/>
          <p:cNvSpPr/>
          <p:nvPr/>
        </p:nvSpPr>
        <p:spPr>
          <a:xfrm>
            <a:off x="8138160" y="1828800"/>
            <a:ext cx="2286000" cy="1463040"/>
          </a:xfrm>
          <a:prstGeom prst="rect">
            <a:avLst/>
          </a:prstGeom>
          <a:solidFill>
            <a:srgbClr val="24243E"/>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2011680"/>
            <a:ext cx="2286000" cy="640080"/>
          </a:xfrm>
          <a:prstGeom prst="rect">
            <a:avLst/>
          </a:prstGeom>
          <a:noFill/>
        </p:spPr>
        <p:txBody>
          <a:bodyPr wrap="square">
            <a:spAutoFit/>
          </a:bodyPr>
          <a:lstStyle/>
          <a:p>
            <a:pPr algn="ctr">
              <a:defRPr sz="3600" b="1">
                <a:solidFill>
                  <a:srgbClr val="FF8C42"/>
                </a:solidFill>
                <a:latin typeface="Calibri"/>
              </a:defRPr>
            </a:pPr>
            <a:r>
              <a:t>~70%</a:t>
            </a:r>
          </a:p>
        </p:txBody>
      </p:sp>
      <p:sp>
        <p:nvSpPr>
          <p:cNvPr id="16" name="TextBox 15"/>
          <p:cNvSpPr txBox="1"/>
          <p:nvPr/>
        </p:nvSpPr>
        <p:spPr>
          <a:xfrm>
            <a:off x="8275320" y="2651760"/>
            <a:ext cx="2011680" cy="548640"/>
          </a:xfrm>
          <a:prstGeom prst="rect">
            <a:avLst/>
          </a:prstGeom>
          <a:noFill/>
        </p:spPr>
        <p:txBody>
          <a:bodyPr wrap="square">
            <a:spAutoFit/>
          </a:bodyPr>
          <a:lstStyle/>
          <a:p>
            <a:pPr algn="ctr">
              <a:defRPr sz="1300" b="0">
                <a:solidFill>
                  <a:srgbClr val="CCCCCC"/>
                </a:solidFill>
                <a:latin typeface="Calibri"/>
              </a:defRPr>
            </a:pPr>
            <a:r>
              <a:t>Spec-to-Code Fidelity</a:t>
            </a:r>
          </a:p>
        </p:txBody>
      </p:sp>
      <p:sp>
        <p:nvSpPr>
          <p:cNvPr id="17" name="TextBox 16"/>
          <p:cNvSpPr txBox="1"/>
          <p:nvPr/>
        </p:nvSpPr>
        <p:spPr>
          <a:xfrm>
            <a:off x="731520" y="3657600"/>
            <a:ext cx="4572000" cy="365760"/>
          </a:xfrm>
          <a:prstGeom prst="rect">
            <a:avLst/>
          </a:prstGeom>
          <a:noFill/>
        </p:spPr>
        <p:txBody>
          <a:bodyPr wrap="square">
            <a:spAutoFit/>
          </a:bodyPr>
          <a:lstStyle/>
          <a:p>
            <a:pPr algn="l">
              <a:defRPr sz="1600" b="1">
                <a:solidFill>
                  <a:srgbClr val="0096D6"/>
                </a:solidFill>
                <a:latin typeface="Calibri"/>
              </a:defRPr>
            </a:pPr>
            <a:r>
              <a:t>SPEC FILE STRUCTURE</a:t>
            </a:r>
          </a:p>
        </p:txBody>
      </p:sp>
      <p:sp>
        <p:nvSpPr>
          <p:cNvPr id="18" name="TextBox 17"/>
          <p:cNvSpPr txBox="1"/>
          <p:nvPr/>
        </p:nvSpPr>
        <p:spPr>
          <a:xfrm>
            <a:off x="914400" y="4114800"/>
            <a:ext cx="4754880" cy="256032"/>
          </a:xfrm>
          <a:prstGeom prst="rect">
            <a:avLst/>
          </a:prstGeom>
          <a:noFill/>
        </p:spPr>
        <p:txBody>
          <a:bodyPr wrap="square">
            <a:spAutoFit/>
          </a:bodyPr>
          <a:lstStyle/>
          <a:p>
            <a:pPr algn="l">
              <a:defRPr sz="1200" b="0">
                <a:solidFill>
                  <a:srgbClr val="CCCCCC"/>
                </a:solidFill>
                <a:latin typeface="Courier New"/>
              </a:defRPr>
            </a:pPr>
            <a:r>
              <a:t>00  Project Overview (architecture, tech stack)</a:t>
            </a:r>
          </a:p>
        </p:txBody>
      </p:sp>
      <p:sp>
        <p:nvSpPr>
          <p:cNvPr id="19" name="TextBox 18"/>
          <p:cNvSpPr txBox="1"/>
          <p:nvPr/>
        </p:nvSpPr>
        <p:spPr>
          <a:xfrm>
            <a:off x="914400" y="4370832"/>
            <a:ext cx="4754880" cy="256032"/>
          </a:xfrm>
          <a:prstGeom prst="rect">
            <a:avLst/>
          </a:prstGeom>
          <a:noFill/>
        </p:spPr>
        <p:txBody>
          <a:bodyPr wrap="square">
            <a:spAutoFit/>
          </a:bodyPr>
          <a:lstStyle/>
          <a:p>
            <a:pPr algn="l">
              <a:defRPr sz="1200" b="0">
                <a:solidFill>
                  <a:srgbClr val="CCCCCC"/>
                </a:solidFill>
                <a:latin typeface="Courier New"/>
              </a:defRPr>
            </a:pPr>
            <a:r>
              <a:t>01  Shared Types (TypeScript interfaces)</a:t>
            </a:r>
          </a:p>
        </p:txBody>
      </p:sp>
      <p:sp>
        <p:nvSpPr>
          <p:cNvPr id="20" name="TextBox 19"/>
          <p:cNvSpPr txBox="1"/>
          <p:nvPr/>
        </p:nvSpPr>
        <p:spPr>
          <a:xfrm>
            <a:off x="914400" y="4626864"/>
            <a:ext cx="4754880" cy="256032"/>
          </a:xfrm>
          <a:prstGeom prst="rect">
            <a:avLst/>
          </a:prstGeom>
          <a:noFill/>
        </p:spPr>
        <p:txBody>
          <a:bodyPr wrap="square">
            <a:spAutoFit/>
          </a:bodyPr>
          <a:lstStyle/>
          <a:p>
            <a:pPr algn="l">
              <a:defRPr sz="1200" b="0">
                <a:solidFill>
                  <a:srgbClr val="CCCCCC"/>
                </a:solidFill>
                <a:latin typeface="Courier New"/>
              </a:defRPr>
            </a:pPr>
            <a:r>
              <a:t>02  Session State (StorySession class)</a:t>
            </a:r>
          </a:p>
        </p:txBody>
      </p:sp>
      <p:sp>
        <p:nvSpPr>
          <p:cNvPr id="21" name="TextBox 20"/>
          <p:cNvSpPr txBox="1"/>
          <p:nvPr/>
        </p:nvSpPr>
        <p:spPr>
          <a:xfrm>
            <a:off x="914400" y="4882896"/>
            <a:ext cx="4754880" cy="256032"/>
          </a:xfrm>
          <a:prstGeom prst="rect">
            <a:avLst/>
          </a:prstGeom>
          <a:noFill/>
        </p:spPr>
        <p:txBody>
          <a:bodyPr wrap="square">
            <a:spAutoFit/>
          </a:bodyPr>
          <a:lstStyle/>
          <a:p>
            <a:pPr algn="l">
              <a:defRPr sz="1200" b="0">
                <a:solidFill>
                  <a:srgbClr val="CCCCCC"/>
                </a:solidFill>
                <a:latin typeface="Courier New"/>
              </a:defRPr>
            </a:pPr>
            <a:r>
              <a:t>03  AI Agent Service (Groq API integration)</a:t>
            </a:r>
          </a:p>
        </p:txBody>
      </p:sp>
      <p:sp>
        <p:nvSpPr>
          <p:cNvPr id="22" name="TextBox 21"/>
          <p:cNvSpPr txBox="1"/>
          <p:nvPr/>
        </p:nvSpPr>
        <p:spPr>
          <a:xfrm>
            <a:off x="914400" y="5138928"/>
            <a:ext cx="4754880" cy="256032"/>
          </a:xfrm>
          <a:prstGeom prst="rect">
            <a:avLst/>
          </a:prstGeom>
          <a:noFill/>
        </p:spPr>
        <p:txBody>
          <a:bodyPr wrap="square">
            <a:spAutoFit/>
          </a:bodyPr>
          <a:lstStyle/>
          <a:p>
            <a:pPr algn="l">
              <a:defRPr sz="1200" b="0">
                <a:solidFill>
                  <a:srgbClr val="CCCCCC"/>
                </a:solidFill>
                <a:latin typeface="Courier New"/>
              </a:defRPr>
            </a:pPr>
            <a:r>
              <a:t>04  Story Service (business logic + streaming)</a:t>
            </a:r>
          </a:p>
        </p:txBody>
      </p:sp>
      <p:sp>
        <p:nvSpPr>
          <p:cNvPr id="23" name="TextBox 22"/>
          <p:cNvSpPr txBox="1"/>
          <p:nvPr/>
        </p:nvSpPr>
        <p:spPr>
          <a:xfrm>
            <a:off x="914400" y="5394960"/>
            <a:ext cx="4754880" cy="256032"/>
          </a:xfrm>
          <a:prstGeom prst="rect">
            <a:avLst/>
          </a:prstGeom>
          <a:noFill/>
        </p:spPr>
        <p:txBody>
          <a:bodyPr wrap="square">
            <a:spAutoFit/>
          </a:bodyPr>
          <a:lstStyle/>
          <a:p>
            <a:pPr algn="l">
              <a:defRPr sz="1200" b="0">
                <a:solidFill>
                  <a:srgbClr val="CCCCCC"/>
                </a:solidFill>
                <a:latin typeface="Courier New"/>
              </a:defRPr>
            </a:pPr>
            <a:r>
              <a:t>05  Controller (HTTP + SSE endpoints)</a:t>
            </a:r>
          </a:p>
        </p:txBody>
      </p:sp>
      <p:sp>
        <p:nvSpPr>
          <p:cNvPr id="24" name="TextBox 23"/>
          <p:cNvSpPr txBox="1"/>
          <p:nvPr/>
        </p:nvSpPr>
        <p:spPr>
          <a:xfrm>
            <a:off x="914400" y="5650992"/>
            <a:ext cx="4754880" cy="256032"/>
          </a:xfrm>
          <a:prstGeom prst="rect">
            <a:avLst/>
          </a:prstGeom>
          <a:noFill/>
        </p:spPr>
        <p:txBody>
          <a:bodyPr wrap="square">
            <a:spAutoFit/>
          </a:bodyPr>
          <a:lstStyle/>
          <a:p>
            <a:pPr algn="l">
              <a:defRPr sz="1200" b="0">
                <a:solidFill>
                  <a:srgbClr val="CCCCCC"/>
                </a:solidFill>
                <a:latin typeface="Courier New"/>
              </a:defRPr>
            </a:pPr>
            <a:r>
              <a:t>06  React Hook (state + EventSource)</a:t>
            </a:r>
          </a:p>
        </p:txBody>
      </p:sp>
      <p:sp>
        <p:nvSpPr>
          <p:cNvPr id="25" name="TextBox 24"/>
          <p:cNvSpPr txBox="1"/>
          <p:nvPr/>
        </p:nvSpPr>
        <p:spPr>
          <a:xfrm>
            <a:off x="914400" y="5907024"/>
            <a:ext cx="4754880" cy="256032"/>
          </a:xfrm>
          <a:prstGeom prst="rect">
            <a:avLst/>
          </a:prstGeom>
          <a:noFill/>
        </p:spPr>
        <p:txBody>
          <a:bodyPr wrap="square">
            <a:spAutoFit/>
          </a:bodyPr>
          <a:lstStyle/>
          <a:p>
            <a:pPr algn="l">
              <a:defRPr sz="1200" b="0">
                <a:solidFill>
                  <a:srgbClr val="CCCCCC"/>
                </a:solidFill>
                <a:latin typeface="Courier New"/>
              </a:defRPr>
            </a:pPr>
            <a:r>
              <a:t>07-12  UI Components (6 individual specs)</a:t>
            </a:r>
          </a:p>
        </p:txBody>
      </p:sp>
      <p:sp>
        <p:nvSpPr>
          <p:cNvPr id="26" name="TextBox 25"/>
          <p:cNvSpPr txBox="1"/>
          <p:nvPr/>
        </p:nvSpPr>
        <p:spPr>
          <a:xfrm>
            <a:off x="914400" y="6163056"/>
            <a:ext cx="4754880" cy="256032"/>
          </a:xfrm>
          <a:prstGeom prst="rect">
            <a:avLst/>
          </a:prstGeom>
          <a:noFill/>
        </p:spPr>
        <p:txBody>
          <a:bodyPr wrap="square">
            <a:spAutoFit/>
          </a:bodyPr>
          <a:lstStyle/>
          <a:p>
            <a:pPr algn="l">
              <a:defRPr sz="1200" b="0">
                <a:solidFill>
                  <a:srgbClr val="CCCCCC"/>
                </a:solidFill>
                <a:latin typeface="Courier New"/>
              </a:defRPr>
            </a:pPr>
            <a:r>
              <a:t>13  Data Flow &amp; Error Handling</a:t>
            </a:r>
          </a:p>
        </p:txBody>
      </p:sp>
      <p:sp>
        <p:nvSpPr>
          <p:cNvPr id="27" name="TextBox 26"/>
          <p:cNvSpPr txBox="1"/>
          <p:nvPr/>
        </p:nvSpPr>
        <p:spPr>
          <a:xfrm>
            <a:off x="6400800" y="3657600"/>
            <a:ext cx="5029200" cy="365760"/>
          </a:xfrm>
          <a:prstGeom prst="rect">
            <a:avLst/>
          </a:prstGeom>
          <a:noFill/>
        </p:spPr>
        <p:txBody>
          <a:bodyPr wrap="square">
            <a:spAutoFit/>
          </a:bodyPr>
          <a:lstStyle/>
          <a:p>
            <a:pPr algn="l">
              <a:defRPr sz="1600" b="1">
                <a:solidFill>
                  <a:srgbClr val="00C97B"/>
                </a:solidFill>
                <a:latin typeface="Calibri"/>
              </a:defRPr>
            </a:pPr>
            <a:r>
              <a:t>ARCHITECTURE (FROM SPEC)</a:t>
            </a:r>
          </a:p>
        </p:txBody>
      </p:sp>
      <p:sp>
        <p:nvSpPr>
          <p:cNvPr id="28" name="Rectangle 27"/>
          <p:cNvSpPr/>
          <p:nvPr/>
        </p:nvSpPr>
        <p:spPr>
          <a:xfrm>
            <a:off x="6400800" y="4114800"/>
            <a:ext cx="5029200" cy="2377440"/>
          </a:xfrm>
          <a:prstGeom prst="rect">
            <a:avLst/>
          </a:prstGeom>
          <a:solidFill>
            <a:srgbClr val="151525"/>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4206240"/>
            <a:ext cx="4663440" cy="2194560"/>
          </a:xfrm>
          <a:prstGeom prst="rect">
            <a:avLst/>
          </a:prstGeom>
          <a:noFill/>
        </p:spPr>
        <p:txBody>
          <a:bodyPr wrap="square">
            <a:spAutoFit/>
          </a:bodyPr>
          <a:lstStyle/>
          <a:p>
            <a:pPr algn="l">
              <a:defRPr sz="1100" b="0">
                <a:solidFill>
                  <a:srgbClr val="00C97B"/>
                </a:solidFill>
                <a:latin typeface="Courier New"/>
              </a:defRPr>
            </a:pPr>
            <a:r>
              <a:t>Browser (React + Vite)</a:t>
            </a:r>
            <a:br/>
            <a:r>
              <a:t>  |  POST /story/start     -&gt; { sessionId }</a:t>
            </a:r>
            <a:br/>
            <a:r>
              <a:t>  |  GET  /story/stream/:id -&gt; SSE stream</a:t>
            </a:r>
            <a:br/>
            <a:r>
              <a:t>  |  POST /story/pause/:id</a:t>
            </a:r>
            <a:br/>
            <a:r>
              <a:t>  |  POST /story/resume/:id</a:t>
            </a:r>
            <a:br/>
            <a:r>
              <a:t>  |  POST /story/redirect/:id</a:t>
            </a:r>
            <a:br/>
            <a:r>
              <a:t>  +----------------------------------</a:t>
            </a:r>
            <a:br/>
            <a:r>
              <a:t>NestJS Backend</a:t>
            </a:r>
            <a:br/>
            <a:r>
              <a:t>  StoryController -&gt; StoryService</a:t>
            </a:r>
            <a:br/>
            <a:r>
              <a:t>    -&gt; StorySession (state)</a:t>
            </a:r>
            <a:br/>
            <a:r>
              <a:t>    -&gt; AgentsService -&gt; Groq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FROM SPEC TO CODE: WHAT MATCHED</a:t>
            </a:r>
          </a:p>
        </p:txBody>
      </p:sp>
      <p:sp>
        <p:nvSpPr>
          <p:cNvPr id="4" name="TextBox 3"/>
          <p:cNvSpPr txBox="1"/>
          <p:nvPr/>
        </p:nvSpPr>
        <p:spPr>
          <a:xfrm>
            <a:off x="731520" y="1097280"/>
            <a:ext cx="10058400" cy="457200"/>
          </a:xfrm>
          <a:prstGeom prst="rect">
            <a:avLst/>
          </a:prstGeom>
          <a:noFill/>
        </p:spPr>
        <p:txBody>
          <a:bodyPr wrap="square">
            <a:spAutoFit/>
          </a:bodyPr>
          <a:lstStyle/>
          <a:p>
            <a:pPr algn="l">
              <a:defRPr sz="1800" b="0">
                <a:solidFill>
                  <a:srgbClr val="CCCCCC"/>
                </a:solidFill>
                <a:latin typeface="Calibri"/>
              </a:defRPr>
            </a:pPr>
            <a:r>
              <a:t>Side-by-side: specification vs implementation</a:t>
            </a:r>
          </a:p>
        </p:txBody>
      </p:sp>
      <p:sp>
        <p:nvSpPr>
          <p:cNvPr id="5" name="TextBox 4"/>
          <p:cNvSpPr txBox="1"/>
          <p:nvPr/>
        </p:nvSpPr>
        <p:spPr>
          <a:xfrm>
            <a:off x="457200" y="1737360"/>
            <a:ext cx="5486400" cy="365760"/>
          </a:xfrm>
          <a:prstGeom prst="rect">
            <a:avLst/>
          </a:prstGeom>
          <a:noFill/>
        </p:spPr>
        <p:txBody>
          <a:bodyPr wrap="square">
            <a:spAutoFit/>
          </a:bodyPr>
          <a:lstStyle/>
          <a:p>
            <a:pPr algn="l">
              <a:defRPr sz="1600" b="1">
                <a:solidFill>
                  <a:srgbClr val="0096D6"/>
                </a:solidFill>
                <a:latin typeface="Calibri"/>
              </a:defRPr>
            </a:pPr>
            <a:r>
              <a:t>SPEC (01-shared-types.md)</a:t>
            </a:r>
          </a:p>
        </p:txBody>
      </p:sp>
      <p:sp>
        <p:nvSpPr>
          <p:cNvPr id="6" name="Rectangle 5"/>
          <p:cNvSpPr/>
          <p:nvPr/>
        </p:nvSpPr>
        <p:spPr>
          <a:xfrm>
            <a:off x="457200" y="2148840"/>
            <a:ext cx="5486400" cy="2560320"/>
          </a:xfrm>
          <a:prstGeom prst="rect">
            <a:avLst/>
          </a:prstGeom>
          <a:solidFill>
            <a:srgbClr val="151525"/>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40280"/>
            <a:ext cx="5120640" cy="2377440"/>
          </a:xfrm>
          <a:prstGeom prst="rect">
            <a:avLst/>
          </a:prstGeom>
          <a:noFill/>
        </p:spPr>
        <p:txBody>
          <a:bodyPr wrap="square">
            <a:spAutoFit/>
          </a:bodyPr>
          <a:lstStyle/>
          <a:p>
            <a:pPr algn="l">
              <a:defRPr sz="1200" b="0">
                <a:solidFill>
                  <a:srgbClr val="0096D6"/>
                </a:solidFill>
                <a:latin typeface="Courier New"/>
              </a:defRPr>
            </a:pPr>
            <a:r>
              <a:t>export interface StoryEvent {</a:t>
            </a:r>
            <a:br/>
            <a:r>
              <a:t>  turn: number      // 1-15</a:t>
            </a:r>
            <a:br/>
            <a:r>
              <a:t>  total: number     // always 15</a:t>
            </a:r>
            <a:br/>
            <a:r>
              <a:t>  character: 'Luna' | 'Oak'</a:t>
            </a:r>
            <a:br/>
            <a:r>
              <a:t>  color: string     // text color hex</a:t>
            </a:r>
            <a:br/>
            <a:r>
              <a:t>  bgColor: string   // bubble bg hex</a:t>
            </a:r>
            <a:br/>
            <a:r>
              <a:t>  text: string      // the sentence</a:t>
            </a:r>
            <a:br/>
            <a:r>
              <a:t>  isFinal: boolean  // true on turn 15</a:t>
            </a:r>
            <a:br/>
            <a:r>
              <a:t>}</a:t>
            </a:r>
            <a:br/>
            <a:br/>
            <a:r>
              <a:t>export interface StoryStatus {</a:t>
            </a:r>
            <a:br/>
            <a:r>
              <a:t>  sessionId: string</a:t>
            </a:r>
            <a:br/>
            <a:r>
              <a:t>  currentTurn: number</a:t>
            </a:r>
            <a:br/>
            <a:r>
              <a:t>  isPaused: boolean</a:t>
            </a:r>
            <a:br/>
            <a:r>
              <a:t>  isComplete: boolean</a:t>
            </a:r>
            <a:br/>
            <a:r>
              <a:t>}</a:t>
            </a:r>
          </a:p>
        </p:txBody>
      </p:sp>
      <p:sp>
        <p:nvSpPr>
          <p:cNvPr id="8" name="TextBox 7"/>
          <p:cNvSpPr txBox="1"/>
          <p:nvPr/>
        </p:nvSpPr>
        <p:spPr>
          <a:xfrm>
            <a:off x="6217920" y="1737360"/>
            <a:ext cx="5486400" cy="365760"/>
          </a:xfrm>
          <a:prstGeom prst="rect">
            <a:avLst/>
          </a:prstGeom>
          <a:noFill/>
        </p:spPr>
        <p:txBody>
          <a:bodyPr wrap="square">
            <a:spAutoFit/>
          </a:bodyPr>
          <a:lstStyle/>
          <a:p>
            <a:pPr algn="l">
              <a:defRPr sz="1600" b="1">
                <a:solidFill>
                  <a:srgbClr val="00C97B"/>
                </a:solidFill>
                <a:latin typeface="Calibri"/>
              </a:defRPr>
            </a:pPr>
            <a:r>
              <a:t>IMPLEMENTATION (story.types.ts)</a:t>
            </a:r>
          </a:p>
        </p:txBody>
      </p:sp>
      <p:sp>
        <p:nvSpPr>
          <p:cNvPr id="9" name="Rectangle 8"/>
          <p:cNvSpPr/>
          <p:nvPr/>
        </p:nvSpPr>
        <p:spPr>
          <a:xfrm>
            <a:off x="6217920" y="2148840"/>
            <a:ext cx="5486400" cy="2560320"/>
          </a:xfrm>
          <a:prstGeom prst="rect">
            <a:avLst/>
          </a:prstGeom>
          <a:solidFill>
            <a:srgbClr val="151525"/>
          </a:solidFill>
          <a:ln w="19050">
            <a:solidFill>
              <a:srgbClr val="00C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240280"/>
            <a:ext cx="5120640" cy="2377440"/>
          </a:xfrm>
          <a:prstGeom prst="rect">
            <a:avLst/>
          </a:prstGeom>
          <a:noFill/>
        </p:spPr>
        <p:txBody>
          <a:bodyPr wrap="square">
            <a:spAutoFit/>
          </a:bodyPr>
          <a:lstStyle/>
          <a:p>
            <a:pPr algn="l">
              <a:defRPr sz="1200" b="0">
                <a:solidFill>
                  <a:srgbClr val="00C97B"/>
                </a:solidFill>
                <a:latin typeface="Courier New"/>
              </a:defRPr>
            </a:pPr>
            <a:r>
              <a:t>export interface StoryEvent {</a:t>
            </a:r>
            <a:br/>
            <a:r>
              <a:t>  turn: number;</a:t>
            </a:r>
            <a:br/>
            <a:r>
              <a:t>  total: number;</a:t>
            </a:r>
            <a:br/>
            <a:r>
              <a:t>  character: 'Luna' | 'Oak';</a:t>
            </a:r>
            <a:br/>
            <a:r>
              <a:t>  color: string;</a:t>
            </a:r>
            <a:br/>
            <a:r>
              <a:t>  bgColor: string;</a:t>
            </a:r>
            <a:br/>
            <a:r>
              <a:t>  text: string;</a:t>
            </a:r>
            <a:br/>
            <a:r>
              <a:t>  isFinal: boolean;</a:t>
            </a:r>
            <a:br/>
            <a:r>
              <a:t>}</a:t>
            </a:r>
            <a:br/>
            <a:br/>
            <a:r>
              <a:t>export interface StoryStatus {</a:t>
            </a:r>
            <a:br/>
            <a:r>
              <a:t>  sessionId: string;</a:t>
            </a:r>
            <a:br/>
            <a:r>
              <a:t>  currentTurn: number;</a:t>
            </a:r>
            <a:br/>
            <a:r>
              <a:t>  isPaused: boolean;</a:t>
            </a:r>
            <a:br/>
            <a:r>
              <a:t>  isComplete: boolean;</a:t>
            </a:r>
            <a:br/>
            <a:r>
              <a:t>}</a:t>
            </a:r>
          </a:p>
        </p:txBody>
      </p:sp>
      <p:sp>
        <p:nvSpPr>
          <p:cNvPr id="11" name="TextBox 10"/>
          <p:cNvSpPr txBox="1"/>
          <p:nvPr/>
        </p:nvSpPr>
        <p:spPr>
          <a:xfrm>
            <a:off x="731520" y="4846320"/>
            <a:ext cx="10515600" cy="457200"/>
          </a:xfrm>
          <a:prstGeom prst="rect">
            <a:avLst/>
          </a:prstGeom>
          <a:noFill/>
        </p:spPr>
        <p:txBody>
          <a:bodyPr wrap="square">
            <a:spAutoFit/>
          </a:bodyPr>
          <a:lstStyle/>
          <a:p>
            <a:pPr algn="ctr">
              <a:defRPr sz="2000" b="1">
                <a:solidFill>
                  <a:srgbClr val="00C97B"/>
                </a:solidFill>
                <a:latin typeface="Calibri"/>
              </a:defRPr>
            </a:pPr>
            <a:r>
              <a:t>Result: Exact match. Zero deviation from specification.</a:t>
            </a:r>
          </a:p>
        </p:txBody>
      </p:sp>
      <p:sp>
        <p:nvSpPr>
          <p:cNvPr id="12" name="TextBox 11"/>
          <p:cNvSpPr txBox="1"/>
          <p:nvPr/>
        </p:nvSpPr>
        <p:spPr>
          <a:xfrm>
            <a:off x="457200" y="5394960"/>
            <a:ext cx="10972800" cy="365760"/>
          </a:xfrm>
          <a:prstGeom prst="rect">
            <a:avLst/>
          </a:prstGeom>
          <a:noFill/>
        </p:spPr>
        <p:txBody>
          <a:bodyPr wrap="square">
            <a:spAutoFit/>
          </a:bodyPr>
          <a:lstStyle/>
          <a:p>
            <a:pPr algn="l">
              <a:defRPr sz="1400" b="1">
                <a:solidFill>
                  <a:srgbClr val="00C97B"/>
                </a:solidFill>
                <a:latin typeface="Calibri"/>
              </a:defRPr>
            </a:pPr>
            <a:r>
              <a:t>COMPONENTS WITH PERFECT SPEC MATCH</a:t>
            </a:r>
          </a:p>
        </p:txBody>
      </p:sp>
      <p:sp>
        <p:nvSpPr>
          <p:cNvPr id="13" name="Rectangle 12"/>
          <p:cNvSpPr/>
          <p:nvPr/>
        </p:nvSpPr>
        <p:spPr>
          <a:xfrm>
            <a:off x="457200" y="5760720"/>
            <a:ext cx="10972800" cy="822960"/>
          </a:xfrm>
          <a:prstGeom prst="rect">
            <a:avLst/>
          </a:prstGeom>
          <a:solidFill>
            <a:srgbClr val="151525"/>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806440"/>
            <a:ext cx="10607040" cy="731520"/>
          </a:xfrm>
          <a:prstGeom prst="rect">
            <a:avLst/>
          </a:prstGeom>
          <a:noFill/>
        </p:spPr>
        <p:txBody>
          <a:bodyPr wrap="square">
            <a:spAutoFit/>
          </a:bodyPr>
          <a:lstStyle/>
          <a:p>
            <a:pPr algn="l">
              <a:defRPr sz="1200" b="0">
                <a:solidFill>
                  <a:srgbClr val="CCCCCC"/>
                </a:solidFill>
                <a:latin typeface="Courier New"/>
              </a:defRPr>
            </a:pPr>
            <a:r>
              <a:t>ProgressBar (spec 09) — every prop, color, calculation matches exactly</a:t>
            </a:r>
            <a:br/>
            <a:r>
              <a:t>Controls (spec 10) — all 4 buttons, disabled states, status text match exactly</a:t>
            </a:r>
            <a:br/>
            <a:r>
              <a:t>RedirectInput (spec 11) — props, submit behavior, Enter key handling, disabled states all match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FF5C5C"/>
                </a:solidFill>
                <a:latin typeface="Calibri"/>
              </a:defRPr>
            </a:pPr>
            <a:r>
              <a:t>HONEST AUDIT: WHERE SPECS BROKE DOWN</a:t>
            </a:r>
          </a:p>
        </p:txBody>
      </p:sp>
      <p:sp>
        <p:nvSpPr>
          <p:cNvPr id="4" name="TextBox 3"/>
          <p:cNvSpPr txBox="1"/>
          <p:nvPr/>
        </p:nvSpPr>
        <p:spPr>
          <a:xfrm>
            <a:off x="731520" y="1097280"/>
            <a:ext cx="10058400" cy="457200"/>
          </a:xfrm>
          <a:prstGeom prst="rect">
            <a:avLst/>
          </a:prstGeom>
          <a:noFill/>
        </p:spPr>
        <p:txBody>
          <a:bodyPr wrap="square">
            <a:spAutoFit/>
          </a:bodyPr>
          <a:lstStyle/>
          <a:p>
            <a:pPr algn="l">
              <a:defRPr sz="1800" b="0">
                <a:solidFill>
                  <a:srgbClr val="CCCCCC"/>
                </a:solidFill>
                <a:latin typeface="Calibri"/>
              </a:defRPr>
            </a:pPr>
            <a:r>
              <a:t>The lessons from failures are more valuable than the successes</a:t>
            </a:r>
          </a:p>
        </p:txBody>
      </p:sp>
      <p:sp>
        <p:nvSpPr>
          <p:cNvPr id="5" name="Rectangle 4"/>
          <p:cNvSpPr/>
          <p:nvPr/>
        </p:nvSpPr>
        <p:spPr>
          <a:xfrm>
            <a:off x="457200" y="1828800"/>
            <a:ext cx="5486400" cy="2103120"/>
          </a:xfrm>
          <a:prstGeom prst="rect">
            <a:avLst/>
          </a:prstGeom>
          <a:solidFill>
            <a:srgbClr val="24243E"/>
          </a:solidFill>
          <a:ln w="2540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4864" cy="2103120"/>
          </a:xfrm>
          <a:prstGeom prst="rect">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365760"/>
          </a:xfrm>
          <a:prstGeom prst="rect">
            <a:avLst/>
          </a:prstGeom>
          <a:noFill/>
        </p:spPr>
        <p:txBody>
          <a:bodyPr wrap="square">
            <a:spAutoFit/>
          </a:bodyPr>
          <a:lstStyle/>
          <a:p>
            <a:pPr algn="l">
              <a:defRPr sz="1600" b="1">
                <a:solidFill>
                  <a:srgbClr val="FF5C5C"/>
                </a:solidFill>
                <a:latin typeface="Calibri"/>
              </a:defRPr>
            </a:pPr>
            <a:r>
              <a:t>THEME CHANGED WITHOUT UPDATING SPECS</a:t>
            </a:r>
          </a:p>
        </p:txBody>
      </p:sp>
      <p:sp>
        <p:nvSpPr>
          <p:cNvPr id="8" name="TextBox 7"/>
          <p:cNvSpPr txBox="1"/>
          <p:nvPr/>
        </p:nvSpPr>
        <p:spPr>
          <a:xfrm>
            <a:off x="731520" y="2331720"/>
            <a:ext cx="5120640" cy="320040"/>
          </a:xfrm>
          <a:prstGeom prst="rect">
            <a:avLst/>
          </a:prstGeom>
          <a:noFill/>
        </p:spPr>
        <p:txBody>
          <a:bodyPr wrap="square">
            <a:spAutoFit/>
          </a:bodyPr>
          <a:lstStyle/>
          <a:p>
            <a:pPr algn="l">
              <a:defRPr sz="1300" b="0">
                <a:solidFill>
                  <a:srgbClr val="CCCCCC"/>
                </a:solidFill>
                <a:latin typeface="Calibri"/>
              </a:defRPr>
            </a:pPr>
            <a:r>
              <a:t>Spec: "Curious young wizard in an enchanted forest"</a:t>
            </a:r>
          </a:p>
        </p:txBody>
      </p:sp>
      <p:sp>
        <p:nvSpPr>
          <p:cNvPr id="9" name="TextBox 8"/>
          <p:cNvSpPr txBox="1"/>
          <p:nvPr/>
        </p:nvSpPr>
        <p:spPr>
          <a:xfrm>
            <a:off x="731520" y="2606040"/>
            <a:ext cx="5120640" cy="320040"/>
          </a:xfrm>
          <a:prstGeom prst="rect">
            <a:avLst/>
          </a:prstGeom>
          <a:noFill/>
        </p:spPr>
        <p:txBody>
          <a:bodyPr wrap="square">
            <a:spAutoFit/>
          </a:bodyPr>
          <a:lstStyle/>
          <a:p>
            <a:pPr algn="l">
              <a:defRPr sz="1300" b="0">
                <a:solidFill>
                  <a:srgbClr val="CCCCCC"/>
                </a:solidFill>
                <a:latin typeface="Calibri"/>
              </a:defRPr>
            </a:pPr>
            <a:r>
              <a:t>Code: "Friendly person meeting someone new"</a:t>
            </a:r>
          </a:p>
        </p:txBody>
      </p:sp>
      <p:sp>
        <p:nvSpPr>
          <p:cNvPr id="10" name="TextBox 9"/>
          <p:cNvSpPr txBox="1"/>
          <p:nvPr/>
        </p:nvSpPr>
        <p:spPr>
          <a:xfrm>
            <a:off x="731520" y="2880360"/>
            <a:ext cx="5120640" cy="320040"/>
          </a:xfrm>
          <a:prstGeom prst="rect">
            <a:avLst/>
          </a:prstGeom>
          <a:noFill/>
        </p:spPr>
        <p:txBody>
          <a:bodyPr wrap="square">
            <a:spAutoFit/>
          </a:bodyPr>
          <a:lstStyle/>
          <a:p>
            <a:pPr algn="l">
              <a:defRPr sz="1300" b="0">
                <a:solidFill>
                  <a:srgbClr val="CCCCCC"/>
                </a:solidFill>
                <a:latin typeface="Calibri"/>
              </a:defRPr>
            </a:pPr>
          </a:p>
        </p:txBody>
      </p:sp>
      <p:sp>
        <p:nvSpPr>
          <p:cNvPr id="11" name="TextBox 10"/>
          <p:cNvSpPr txBox="1"/>
          <p:nvPr/>
        </p:nvSpPr>
        <p:spPr>
          <a:xfrm>
            <a:off x="731520" y="3154680"/>
            <a:ext cx="5120640" cy="320040"/>
          </a:xfrm>
          <a:prstGeom prst="rect">
            <a:avLst/>
          </a:prstGeom>
          <a:noFill/>
        </p:spPr>
        <p:txBody>
          <a:bodyPr wrap="square">
            <a:spAutoFit/>
          </a:bodyPr>
          <a:lstStyle/>
          <a:p>
            <a:pPr algn="l">
              <a:defRPr sz="1300" b="0">
                <a:solidFill>
                  <a:srgbClr val="CCCCCC"/>
                </a:solidFill>
                <a:latin typeface="Calibri"/>
              </a:defRPr>
            </a:pPr>
            <a:r>
              <a:t>Spec: "Ancient talking tree, 500 years old"</a:t>
            </a:r>
          </a:p>
        </p:txBody>
      </p:sp>
      <p:sp>
        <p:nvSpPr>
          <p:cNvPr id="12" name="TextBox 11"/>
          <p:cNvSpPr txBox="1"/>
          <p:nvPr/>
        </p:nvSpPr>
        <p:spPr>
          <a:xfrm>
            <a:off x="731520" y="3429000"/>
            <a:ext cx="5120640" cy="320040"/>
          </a:xfrm>
          <a:prstGeom prst="rect">
            <a:avLst/>
          </a:prstGeom>
          <a:noFill/>
        </p:spPr>
        <p:txBody>
          <a:bodyPr wrap="square">
            <a:spAutoFit/>
          </a:bodyPr>
          <a:lstStyle/>
          <a:p>
            <a:pPr algn="l">
              <a:defRPr sz="1300" b="0">
                <a:solidFill>
                  <a:srgbClr val="CCCCCC"/>
                </a:solidFill>
                <a:latin typeface="Calibri"/>
              </a:defRPr>
            </a:pPr>
            <a:r>
              <a:t>Code: "Warm and thoughtful person"</a:t>
            </a:r>
          </a:p>
        </p:txBody>
      </p:sp>
      <p:sp>
        <p:nvSpPr>
          <p:cNvPr id="13" name="TextBox 12"/>
          <p:cNvSpPr txBox="1"/>
          <p:nvPr/>
        </p:nvSpPr>
        <p:spPr>
          <a:xfrm>
            <a:off x="731520" y="3703320"/>
            <a:ext cx="5120640" cy="320040"/>
          </a:xfrm>
          <a:prstGeom prst="rect">
            <a:avLst/>
          </a:prstGeom>
          <a:noFill/>
        </p:spPr>
        <p:txBody>
          <a:bodyPr wrap="square">
            <a:spAutoFit/>
          </a:bodyPr>
          <a:lstStyle/>
          <a:p>
            <a:pPr algn="l">
              <a:defRPr sz="1300" b="0">
                <a:solidFill>
                  <a:srgbClr val="CCCCCC"/>
                </a:solidFill>
                <a:latin typeface="Calibri"/>
              </a:defRPr>
            </a:pPr>
          </a:p>
        </p:txBody>
      </p:sp>
      <p:sp>
        <p:nvSpPr>
          <p:cNvPr id="14" name="TextBox 13"/>
          <p:cNvSpPr txBox="1"/>
          <p:nvPr/>
        </p:nvSpPr>
        <p:spPr>
          <a:xfrm>
            <a:off x="731520" y="3977640"/>
            <a:ext cx="5120640" cy="320040"/>
          </a:xfrm>
          <a:prstGeom prst="rect">
            <a:avLst/>
          </a:prstGeom>
          <a:noFill/>
        </p:spPr>
        <p:txBody>
          <a:bodyPr wrap="square">
            <a:spAutoFit/>
          </a:bodyPr>
          <a:lstStyle/>
          <a:p>
            <a:pPr algn="l">
              <a:defRPr sz="1300" b="0">
                <a:solidFill>
                  <a:srgbClr val="CCCCCC"/>
                </a:solidFill>
                <a:latin typeface="Calibri"/>
              </a:defRPr>
            </a:pPr>
            <a:r>
              <a:t>App title changed: Enchanted Forest -&gt; Conversation Game</a:t>
            </a:r>
          </a:p>
        </p:txBody>
      </p:sp>
      <p:sp>
        <p:nvSpPr>
          <p:cNvPr id="15" name="Rectangle 14"/>
          <p:cNvSpPr/>
          <p:nvPr/>
        </p:nvSpPr>
        <p:spPr>
          <a:xfrm>
            <a:off x="6217920" y="1828800"/>
            <a:ext cx="5486400" cy="2103120"/>
          </a:xfrm>
          <a:prstGeom prst="rect">
            <a:avLst/>
          </a:prstGeom>
          <a:solidFill>
            <a:srgbClr val="24243E"/>
          </a:solidFill>
          <a:ln w="2540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828800"/>
            <a:ext cx="54864" cy="210312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965960"/>
            <a:ext cx="5120640" cy="365760"/>
          </a:xfrm>
          <a:prstGeom prst="rect">
            <a:avLst/>
          </a:prstGeom>
          <a:noFill/>
        </p:spPr>
        <p:txBody>
          <a:bodyPr wrap="square">
            <a:spAutoFit/>
          </a:bodyPr>
          <a:lstStyle/>
          <a:p>
            <a:pPr algn="l">
              <a:defRPr sz="1600" b="1">
                <a:solidFill>
                  <a:srgbClr val="FF8C42"/>
                </a:solidFill>
                <a:latin typeface="Calibri"/>
              </a:defRPr>
            </a:pPr>
            <a:r>
              <a:t>FEATURES ADDED WITHOUT SPECS</a:t>
            </a:r>
          </a:p>
        </p:txBody>
      </p:sp>
      <p:sp>
        <p:nvSpPr>
          <p:cNvPr id="18" name="TextBox 17"/>
          <p:cNvSpPr txBox="1"/>
          <p:nvPr/>
        </p:nvSpPr>
        <p:spPr>
          <a:xfrm>
            <a:off x="6492240" y="2331720"/>
            <a:ext cx="5120640" cy="320040"/>
          </a:xfrm>
          <a:prstGeom prst="rect">
            <a:avLst/>
          </a:prstGeom>
          <a:noFill/>
        </p:spPr>
        <p:txBody>
          <a:bodyPr wrap="square">
            <a:spAutoFit/>
          </a:bodyPr>
          <a:lstStyle/>
          <a:p>
            <a:pPr algn="l">
              <a:defRPr sz="1300" b="0">
                <a:solidFill>
                  <a:srgbClr val="CCCCCC"/>
                </a:solidFill>
                <a:latin typeface="Calibri"/>
              </a:defRPr>
            </a:pPr>
            <a:r>
              <a:t>Full mood system: types, fields, methods,</a:t>
            </a:r>
          </a:p>
        </p:txBody>
      </p:sp>
      <p:sp>
        <p:nvSpPr>
          <p:cNvPr id="19" name="TextBox 18"/>
          <p:cNvSpPr txBox="1"/>
          <p:nvPr/>
        </p:nvSpPr>
        <p:spPr>
          <a:xfrm>
            <a:off x="6492240" y="2606040"/>
            <a:ext cx="5120640" cy="320040"/>
          </a:xfrm>
          <a:prstGeom prst="rect">
            <a:avLst/>
          </a:prstGeom>
          <a:noFill/>
        </p:spPr>
        <p:txBody>
          <a:bodyPr wrap="square">
            <a:spAutoFit/>
          </a:bodyPr>
          <a:lstStyle/>
          <a:p>
            <a:pPr algn="l">
              <a:defRPr sz="1300" b="0">
                <a:solidFill>
                  <a:srgbClr val="CCCCCC"/>
                </a:solidFill>
                <a:latin typeface="Calibri"/>
              </a:defRPr>
            </a:pPr>
            <a:r>
              <a:t>  API endpoint, React component, prompt logic</a:t>
            </a:r>
          </a:p>
        </p:txBody>
      </p:sp>
      <p:sp>
        <p:nvSpPr>
          <p:cNvPr id="20" name="TextBox 19"/>
          <p:cNvSpPr txBox="1"/>
          <p:nvPr/>
        </p:nvSpPr>
        <p:spPr>
          <a:xfrm>
            <a:off x="6492240" y="2880360"/>
            <a:ext cx="5120640" cy="320040"/>
          </a:xfrm>
          <a:prstGeom prst="rect">
            <a:avLst/>
          </a:prstGeom>
          <a:noFill/>
        </p:spPr>
        <p:txBody>
          <a:bodyPr wrap="square">
            <a:spAutoFit/>
          </a:bodyPr>
          <a:lstStyle/>
          <a:p>
            <a:pPr algn="l">
              <a:defRPr sz="1300" b="0">
                <a:solidFill>
                  <a:srgbClr val="CCCCCC"/>
                </a:solidFill>
                <a:latin typeface="Calibri"/>
              </a:defRPr>
            </a:pPr>
            <a:r>
              <a:t>RedirectMarker / DisplayItem types</a:t>
            </a:r>
          </a:p>
        </p:txBody>
      </p:sp>
      <p:sp>
        <p:nvSpPr>
          <p:cNvPr id="21" name="TextBox 20"/>
          <p:cNvSpPr txBox="1"/>
          <p:nvPr/>
        </p:nvSpPr>
        <p:spPr>
          <a:xfrm>
            <a:off x="6492240" y="3154680"/>
            <a:ext cx="5120640" cy="320040"/>
          </a:xfrm>
          <a:prstGeom prst="rect">
            <a:avLst/>
          </a:prstGeom>
          <a:noFill/>
        </p:spPr>
        <p:txBody>
          <a:bodyPr wrap="square">
            <a:spAutoFit/>
          </a:bodyPr>
          <a:lstStyle/>
          <a:p>
            <a:pPr algn="l">
              <a:defRPr sz="1300" b="0">
                <a:solidFill>
                  <a:srgbClr val="CCCCCC"/>
                </a:solidFill>
                <a:latin typeface="Calibri"/>
              </a:defRPr>
            </a:pPr>
            <a:r>
              <a:t>MoodSelector.tsx — NO spec file exists</a:t>
            </a:r>
          </a:p>
        </p:txBody>
      </p:sp>
      <p:sp>
        <p:nvSpPr>
          <p:cNvPr id="22" name="TextBox 21"/>
          <p:cNvSpPr txBox="1"/>
          <p:nvPr/>
        </p:nvSpPr>
        <p:spPr>
          <a:xfrm>
            <a:off x="6492240" y="3429000"/>
            <a:ext cx="5120640" cy="320040"/>
          </a:xfrm>
          <a:prstGeom prst="rect">
            <a:avLst/>
          </a:prstGeom>
          <a:noFill/>
        </p:spPr>
        <p:txBody>
          <a:bodyPr wrap="square">
            <a:spAutoFit/>
          </a:bodyPr>
          <a:lstStyle/>
          <a:p>
            <a:pPr algn="l">
              <a:defRPr sz="1300" b="0">
                <a:solidFill>
                  <a:srgbClr val="CCCCCC"/>
                </a:solidFill>
                <a:latin typeface="Calibri"/>
              </a:defRPr>
            </a:pPr>
            <a:r>
              <a:t>isLatest prop on ChatBubble</a:t>
            </a:r>
          </a:p>
        </p:txBody>
      </p:sp>
      <p:sp>
        <p:nvSpPr>
          <p:cNvPr id="23" name="TextBox 22"/>
          <p:cNvSpPr txBox="1"/>
          <p:nvPr/>
        </p:nvSpPr>
        <p:spPr>
          <a:xfrm>
            <a:off x="6492240" y="3703320"/>
            <a:ext cx="5120640" cy="320040"/>
          </a:xfrm>
          <a:prstGeom prst="rect">
            <a:avLst/>
          </a:prstGeom>
          <a:noFill/>
        </p:spPr>
        <p:txBody>
          <a:bodyPr wrap="square">
            <a:spAutoFit/>
          </a:bodyPr>
          <a:lstStyle/>
          <a:p>
            <a:pPr algn="l">
              <a:defRPr sz="1300" b="0">
                <a:solidFill>
                  <a:srgbClr val="CCCCCC"/>
                </a:solidFill>
                <a:latin typeface="Calibri"/>
              </a:defRPr>
            </a:pPr>
          </a:p>
        </p:txBody>
      </p:sp>
      <p:sp>
        <p:nvSpPr>
          <p:cNvPr id="24" name="TextBox 23"/>
          <p:cNvSpPr txBox="1"/>
          <p:nvPr/>
        </p:nvSpPr>
        <p:spPr>
          <a:xfrm>
            <a:off x="6492240" y="3977640"/>
            <a:ext cx="5120640" cy="320040"/>
          </a:xfrm>
          <a:prstGeom prst="rect">
            <a:avLst/>
          </a:prstGeom>
          <a:noFill/>
        </p:spPr>
        <p:txBody>
          <a:bodyPr wrap="square">
            <a:spAutoFit/>
          </a:bodyPr>
          <a:lstStyle/>
          <a:p>
            <a:pPr algn="l">
              <a:defRPr sz="1300" b="0">
                <a:solidFill>
                  <a:srgbClr val="CCCCCC"/>
                </a:solidFill>
                <a:latin typeface="Calibri"/>
              </a:defRPr>
            </a:pPr>
            <a:r>
              <a:t>A full-stack feature with zero spec coverage</a:t>
            </a:r>
          </a:p>
        </p:txBody>
      </p:sp>
      <p:sp>
        <p:nvSpPr>
          <p:cNvPr id="25" name="Rectangle 24"/>
          <p:cNvSpPr/>
          <p:nvPr/>
        </p:nvSpPr>
        <p:spPr>
          <a:xfrm>
            <a:off x="457200" y="4206240"/>
            <a:ext cx="5486400" cy="1554480"/>
          </a:xfrm>
          <a:prstGeom prst="rect">
            <a:avLst/>
          </a:prstGeom>
          <a:solidFill>
            <a:srgbClr val="24243E"/>
          </a:solidFill>
          <a:ln w="25400">
            <a:solidFill>
              <a:srgbClr val="7C5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206240"/>
            <a:ext cx="54864" cy="1554480"/>
          </a:xfrm>
          <a:prstGeom prst="rect">
            <a:avLst/>
          </a:prstGeom>
          <a:solidFill>
            <a:srgbClr val="7C5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343400"/>
            <a:ext cx="5120640" cy="365760"/>
          </a:xfrm>
          <a:prstGeom prst="rect">
            <a:avLst/>
          </a:prstGeom>
          <a:noFill/>
        </p:spPr>
        <p:txBody>
          <a:bodyPr wrap="square">
            <a:spAutoFit/>
          </a:bodyPr>
          <a:lstStyle/>
          <a:p>
            <a:pPr algn="l">
              <a:defRPr sz="1600" b="1">
                <a:solidFill>
                  <a:srgbClr val="7C5CFC"/>
                </a:solidFill>
                <a:latin typeface="Calibri"/>
              </a:defRPr>
            </a:pPr>
            <a:r>
              <a:t>TIMING VALUES CHANGED SILENTLY</a:t>
            </a:r>
          </a:p>
        </p:txBody>
      </p:sp>
      <p:sp>
        <p:nvSpPr>
          <p:cNvPr id="28" name="TextBox 27"/>
          <p:cNvSpPr txBox="1"/>
          <p:nvPr/>
        </p:nvSpPr>
        <p:spPr>
          <a:xfrm>
            <a:off x="731520" y="4709160"/>
            <a:ext cx="5120640" cy="320040"/>
          </a:xfrm>
          <a:prstGeom prst="rect">
            <a:avLst/>
          </a:prstGeom>
          <a:noFill/>
        </p:spPr>
        <p:txBody>
          <a:bodyPr wrap="square">
            <a:spAutoFit/>
          </a:bodyPr>
          <a:lstStyle/>
          <a:p>
            <a:pPr algn="l">
              <a:defRPr sz="1300" b="0">
                <a:solidFill>
                  <a:srgbClr val="CCCCCC"/>
                </a:solidFill>
                <a:latin typeface="Calibri"/>
              </a:defRPr>
            </a:pPr>
            <a:r>
              <a:t>Story pacing: spec says 600ms, code does 3000ms (5x slower)</a:t>
            </a:r>
          </a:p>
        </p:txBody>
      </p:sp>
      <p:sp>
        <p:nvSpPr>
          <p:cNvPr id="29" name="TextBox 28"/>
          <p:cNvSpPr txBox="1"/>
          <p:nvPr/>
        </p:nvSpPr>
        <p:spPr>
          <a:xfrm>
            <a:off x="731520" y="4983480"/>
            <a:ext cx="5120640" cy="320040"/>
          </a:xfrm>
          <a:prstGeom prst="rect">
            <a:avLst/>
          </a:prstGeom>
          <a:noFill/>
        </p:spPr>
        <p:txBody>
          <a:bodyPr wrap="square">
            <a:spAutoFit/>
          </a:bodyPr>
          <a:lstStyle/>
          <a:p>
            <a:pPr algn="l">
              <a:defRPr sz="1300" b="0">
                <a:solidFill>
                  <a:srgbClr val="CCCCCC"/>
                </a:solidFill>
                <a:latin typeface="Calibri"/>
              </a:defRPr>
            </a:pPr>
            <a:r>
              <a:t>Typewriter speed: spec says 80ms, code does 150ms (1.9x slower)</a:t>
            </a:r>
          </a:p>
        </p:txBody>
      </p:sp>
      <p:sp>
        <p:nvSpPr>
          <p:cNvPr id="30" name="TextBox 29"/>
          <p:cNvSpPr txBox="1"/>
          <p:nvPr/>
        </p:nvSpPr>
        <p:spPr>
          <a:xfrm>
            <a:off x="731520" y="5257800"/>
            <a:ext cx="5120640" cy="320040"/>
          </a:xfrm>
          <a:prstGeom prst="rect">
            <a:avLst/>
          </a:prstGeom>
          <a:noFill/>
        </p:spPr>
        <p:txBody>
          <a:bodyPr wrap="square">
            <a:spAutoFit/>
          </a:bodyPr>
          <a:lstStyle/>
          <a:p>
            <a:pPr algn="l">
              <a:defRPr sz="1300" b="0">
                <a:solidFill>
                  <a:srgbClr val="CCCCCC"/>
                </a:solidFill>
                <a:latin typeface="Calibri"/>
              </a:defRPr>
            </a:pPr>
          </a:p>
        </p:txBody>
      </p:sp>
      <p:sp>
        <p:nvSpPr>
          <p:cNvPr id="31" name="TextBox 30"/>
          <p:cNvSpPr txBox="1"/>
          <p:nvPr/>
        </p:nvSpPr>
        <p:spPr>
          <a:xfrm>
            <a:off x="731520" y="5532120"/>
            <a:ext cx="5120640" cy="320040"/>
          </a:xfrm>
          <a:prstGeom prst="rect">
            <a:avLst/>
          </a:prstGeom>
          <a:noFill/>
        </p:spPr>
        <p:txBody>
          <a:bodyPr wrap="square">
            <a:spAutoFit/>
          </a:bodyPr>
          <a:lstStyle/>
          <a:p>
            <a:pPr algn="l">
              <a:defRPr sz="1300" b="0">
                <a:solidFill>
                  <a:srgbClr val="CCCCCC"/>
                </a:solidFill>
                <a:latin typeface="Calibri"/>
              </a:defRPr>
            </a:pPr>
            <a:r>
              <a:t>Specs still show original values — now misleading</a:t>
            </a:r>
          </a:p>
        </p:txBody>
      </p:sp>
      <p:sp>
        <p:nvSpPr>
          <p:cNvPr id="32" name="Rectangle 31"/>
          <p:cNvSpPr/>
          <p:nvPr/>
        </p:nvSpPr>
        <p:spPr>
          <a:xfrm>
            <a:off x="6217920" y="4206240"/>
            <a:ext cx="5486400" cy="1554480"/>
          </a:xfrm>
          <a:prstGeom prst="rect">
            <a:avLst/>
          </a:prstGeom>
          <a:solidFill>
            <a:srgbClr val="24243E"/>
          </a:solidFill>
          <a:ln w="2540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4206240"/>
            <a:ext cx="54864" cy="155448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4343400"/>
            <a:ext cx="5120640" cy="365760"/>
          </a:xfrm>
          <a:prstGeom prst="rect">
            <a:avLst/>
          </a:prstGeom>
          <a:noFill/>
        </p:spPr>
        <p:txBody>
          <a:bodyPr wrap="square">
            <a:spAutoFit/>
          </a:bodyPr>
          <a:lstStyle/>
          <a:p>
            <a:pPr algn="l">
              <a:defRPr sz="1600" b="1">
                <a:solidFill>
                  <a:srgbClr val="0096D6"/>
                </a:solidFill>
                <a:latin typeface="Calibri"/>
              </a:defRPr>
            </a:pPr>
            <a:r>
              <a:t>THE ROOT CAUSE</a:t>
            </a:r>
          </a:p>
        </p:txBody>
      </p:sp>
      <p:sp>
        <p:nvSpPr>
          <p:cNvPr id="35" name="TextBox 34"/>
          <p:cNvSpPr txBox="1"/>
          <p:nvPr/>
        </p:nvSpPr>
        <p:spPr>
          <a:xfrm>
            <a:off x="6492240" y="4709160"/>
            <a:ext cx="5120640" cy="320040"/>
          </a:xfrm>
          <a:prstGeom prst="rect">
            <a:avLst/>
          </a:prstGeom>
          <a:noFill/>
        </p:spPr>
        <p:txBody>
          <a:bodyPr wrap="square">
            <a:spAutoFit/>
          </a:bodyPr>
          <a:lstStyle/>
          <a:p>
            <a:pPr algn="l">
              <a:defRPr sz="1300" b="0">
                <a:solidFill>
                  <a:srgbClr val="CCCCCC"/>
                </a:solidFill>
                <a:latin typeface="Calibri"/>
              </a:defRPr>
            </a:pPr>
            <a:r>
              <a:t>Specs were treated as INITIAL design, not LIVING docs</a:t>
            </a:r>
          </a:p>
        </p:txBody>
      </p:sp>
      <p:sp>
        <p:nvSpPr>
          <p:cNvPr id="36" name="TextBox 35"/>
          <p:cNvSpPr txBox="1"/>
          <p:nvPr/>
        </p:nvSpPr>
        <p:spPr>
          <a:xfrm>
            <a:off x="6492240" y="4983480"/>
            <a:ext cx="5120640" cy="320040"/>
          </a:xfrm>
          <a:prstGeom prst="rect">
            <a:avLst/>
          </a:prstGeom>
          <a:noFill/>
        </p:spPr>
        <p:txBody>
          <a:bodyPr wrap="square">
            <a:spAutoFit/>
          </a:bodyPr>
          <a:lstStyle/>
          <a:p>
            <a:pPr algn="l">
              <a:defRPr sz="1300" b="0">
                <a:solidFill>
                  <a:srgbClr val="CCCCCC"/>
                </a:solidFill>
                <a:latin typeface="Calibri"/>
              </a:defRPr>
            </a:pPr>
            <a:r>
              <a:t>Changes made during development weren't reflected back</a:t>
            </a:r>
          </a:p>
        </p:txBody>
      </p:sp>
      <p:sp>
        <p:nvSpPr>
          <p:cNvPr id="37" name="TextBox 36"/>
          <p:cNvSpPr txBox="1"/>
          <p:nvPr/>
        </p:nvSpPr>
        <p:spPr>
          <a:xfrm>
            <a:off x="6492240" y="5257800"/>
            <a:ext cx="5120640" cy="320040"/>
          </a:xfrm>
          <a:prstGeom prst="rect">
            <a:avLst/>
          </a:prstGeom>
          <a:noFill/>
        </p:spPr>
        <p:txBody>
          <a:bodyPr wrap="square">
            <a:spAutoFit/>
          </a:bodyPr>
          <a:lstStyle/>
          <a:p>
            <a:pPr algn="l">
              <a:defRPr sz="1300" b="0">
                <a:solidFill>
                  <a:srgbClr val="CCCCCC"/>
                </a:solidFill>
                <a:latin typeface="Calibri"/>
              </a:defRPr>
            </a:pPr>
            <a:r>
              <a:t>Specs became stale — describing the ORIGINAL design,</a:t>
            </a:r>
          </a:p>
        </p:txBody>
      </p:sp>
      <p:sp>
        <p:nvSpPr>
          <p:cNvPr id="38" name="TextBox 37"/>
          <p:cNvSpPr txBox="1"/>
          <p:nvPr/>
        </p:nvSpPr>
        <p:spPr>
          <a:xfrm>
            <a:off x="6492240" y="5532120"/>
            <a:ext cx="5120640" cy="320040"/>
          </a:xfrm>
          <a:prstGeom prst="rect">
            <a:avLst/>
          </a:prstGeom>
          <a:noFill/>
        </p:spPr>
        <p:txBody>
          <a:bodyPr wrap="square">
            <a:spAutoFit/>
          </a:bodyPr>
          <a:lstStyle/>
          <a:p>
            <a:pPr algn="l">
              <a:defRPr sz="1300" b="0">
                <a:solidFill>
                  <a:srgbClr val="CCCCCC"/>
                </a:solidFill>
                <a:latin typeface="Calibri"/>
              </a:defRPr>
            </a:pPr>
            <a:r>
              <a:t>  not the CURRENT implementation</a:t>
            </a:r>
          </a:p>
        </p:txBody>
      </p:sp>
      <p:sp>
        <p:nvSpPr>
          <p:cNvPr id="39" name="TextBox 38"/>
          <p:cNvSpPr txBox="1"/>
          <p:nvPr/>
        </p:nvSpPr>
        <p:spPr>
          <a:xfrm>
            <a:off x="731520" y="6035040"/>
            <a:ext cx="10515600" cy="457200"/>
          </a:xfrm>
          <a:prstGeom prst="rect">
            <a:avLst/>
          </a:prstGeom>
          <a:noFill/>
        </p:spPr>
        <p:txBody>
          <a:bodyPr wrap="square">
            <a:spAutoFit/>
          </a:bodyPr>
          <a:lstStyle/>
          <a:p>
            <a:pPr algn="ctr">
              <a:defRPr sz="1800" b="1">
                <a:solidFill>
                  <a:srgbClr val="FF5C5C"/>
                </a:solidFill>
                <a:latin typeface="Calibri"/>
              </a:defRPr>
            </a:pPr>
            <a:r>
              <a:t>Lesson: A spec that doesn't match the code is worse than no spec — it actively misleads.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SDD vs OTHER APPROACHES</a:t>
            </a:r>
          </a:p>
        </p:txBody>
      </p:sp>
      <p:sp>
        <p:nvSpPr>
          <p:cNvPr id="4" name="Rectangle 3"/>
          <p:cNvSpPr/>
          <p:nvPr/>
        </p:nvSpPr>
        <p:spPr>
          <a:xfrm>
            <a:off x="457200" y="1463040"/>
            <a:ext cx="274320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08760"/>
            <a:ext cx="2468880" cy="365760"/>
          </a:xfrm>
          <a:prstGeom prst="rect">
            <a:avLst/>
          </a:prstGeom>
          <a:noFill/>
        </p:spPr>
        <p:txBody>
          <a:bodyPr wrap="square">
            <a:spAutoFit/>
          </a:bodyPr>
          <a:lstStyle/>
          <a:p>
            <a:pPr algn="l">
              <a:defRPr sz="1400" b="1">
                <a:solidFill>
                  <a:srgbClr val="999999"/>
                </a:solidFill>
                <a:latin typeface="Calibri"/>
              </a:defRPr>
            </a:pPr>
            <a:r>
              <a:t>ASPECT</a:t>
            </a:r>
          </a:p>
        </p:txBody>
      </p:sp>
      <p:sp>
        <p:nvSpPr>
          <p:cNvPr id="6" name="Rectangle 5"/>
          <p:cNvSpPr/>
          <p:nvPr/>
        </p:nvSpPr>
        <p:spPr>
          <a:xfrm>
            <a:off x="3200400" y="14630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37560" y="1508760"/>
            <a:ext cx="2651760" cy="365760"/>
          </a:xfrm>
          <a:prstGeom prst="rect">
            <a:avLst/>
          </a:prstGeom>
          <a:noFill/>
        </p:spPr>
        <p:txBody>
          <a:bodyPr wrap="square">
            <a:spAutoFit/>
          </a:bodyPr>
          <a:lstStyle/>
          <a:p>
            <a:pPr algn="l">
              <a:defRPr sz="1400" b="1">
                <a:solidFill>
                  <a:srgbClr val="00C97B"/>
                </a:solidFill>
                <a:latin typeface="Calibri"/>
              </a:defRPr>
            </a:pPr>
            <a:r>
              <a:t>SPEC-DRIVEN</a:t>
            </a:r>
          </a:p>
        </p:txBody>
      </p:sp>
      <p:sp>
        <p:nvSpPr>
          <p:cNvPr id="8" name="Rectangle 7"/>
          <p:cNvSpPr/>
          <p:nvPr/>
        </p:nvSpPr>
        <p:spPr>
          <a:xfrm>
            <a:off x="6126480" y="14630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508760"/>
            <a:ext cx="2651760" cy="365760"/>
          </a:xfrm>
          <a:prstGeom prst="rect">
            <a:avLst/>
          </a:prstGeom>
          <a:noFill/>
        </p:spPr>
        <p:txBody>
          <a:bodyPr wrap="square">
            <a:spAutoFit/>
          </a:bodyPr>
          <a:lstStyle/>
          <a:p>
            <a:pPr algn="l">
              <a:defRPr sz="1400" b="1">
                <a:solidFill>
                  <a:srgbClr val="FF5C5C"/>
                </a:solidFill>
                <a:latin typeface="Calibri"/>
              </a:defRPr>
            </a:pPr>
            <a:r>
              <a:t>PROMPT-DRIVEN</a:t>
            </a:r>
          </a:p>
        </p:txBody>
      </p:sp>
      <p:sp>
        <p:nvSpPr>
          <p:cNvPr id="10" name="Rectangle 9"/>
          <p:cNvSpPr/>
          <p:nvPr/>
        </p:nvSpPr>
        <p:spPr>
          <a:xfrm>
            <a:off x="9052560" y="14630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9720" y="1508760"/>
            <a:ext cx="2651760" cy="365760"/>
          </a:xfrm>
          <a:prstGeom prst="rect">
            <a:avLst/>
          </a:prstGeom>
          <a:noFill/>
        </p:spPr>
        <p:txBody>
          <a:bodyPr wrap="square">
            <a:spAutoFit/>
          </a:bodyPr>
          <a:lstStyle/>
          <a:p>
            <a:pPr algn="l">
              <a:defRPr sz="1400" b="1">
                <a:solidFill>
                  <a:srgbClr val="FF8C42"/>
                </a:solidFill>
                <a:latin typeface="Calibri"/>
              </a:defRPr>
            </a:pPr>
            <a:r>
              <a:t>TEST-DRIVEN</a:t>
            </a:r>
          </a:p>
        </p:txBody>
      </p:sp>
      <p:sp>
        <p:nvSpPr>
          <p:cNvPr id="12" name="Rectangle 11"/>
          <p:cNvSpPr/>
          <p:nvPr/>
        </p:nvSpPr>
        <p:spPr>
          <a:xfrm>
            <a:off x="457200" y="1965960"/>
            <a:ext cx="274320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57400"/>
            <a:ext cx="2468880" cy="457200"/>
          </a:xfrm>
          <a:prstGeom prst="rect">
            <a:avLst/>
          </a:prstGeom>
          <a:noFill/>
        </p:spPr>
        <p:txBody>
          <a:bodyPr wrap="square">
            <a:spAutoFit/>
          </a:bodyPr>
          <a:lstStyle/>
          <a:p>
            <a:pPr algn="l">
              <a:defRPr sz="1200" b="0">
                <a:solidFill>
                  <a:srgbClr val="FFFFFF"/>
                </a:solidFill>
                <a:latin typeface="Calibri"/>
              </a:defRPr>
            </a:pPr>
            <a:r>
              <a:t>Upfront Investment</a:t>
            </a:r>
          </a:p>
        </p:txBody>
      </p:sp>
      <p:sp>
        <p:nvSpPr>
          <p:cNvPr id="14" name="Rectangle 13"/>
          <p:cNvSpPr/>
          <p:nvPr/>
        </p:nvSpPr>
        <p:spPr>
          <a:xfrm>
            <a:off x="3200400" y="196596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2057400"/>
            <a:ext cx="2651760" cy="457200"/>
          </a:xfrm>
          <a:prstGeom prst="rect">
            <a:avLst/>
          </a:prstGeom>
          <a:noFill/>
        </p:spPr>
        <p:txBody>
          <a:bodyPr wrap="square">
            <a:spAutoFit/>
          </a:bodyPr>
          <a:lstStyle/>
          <a:p>
            <a:pPr algn="l">
              <a:defRPr sz="1200" b="0">
                <a:solidFill>
                  <a:srgbClr val="00C97B"/>
                </a:solidFill>
                <a:latin typeface="Calibri"/>
              </a:defRPr>
            </a:pPr>
            <a:r>
              <a:t>High (write specs)</a:t>
            </a:r>
          </a:p>
        </p:txBody>
      </p:sp>
      <p:sp>
        <p:nvSpPr>
          <p:cNvPr id="16" name="Rectangle 15"/>
          <p:cNvSpPr/>
          <p:nvPr/>
        </p:nvSpPr>
        <p:spPr>
          <a:xfrm>
            <a:off x="6126480" y="196596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2057400"/>
            <a:ext cx="2651760" cy="457200"/>
          </a:xfrm>
          <a:prstGeom prst="rect">
            <a:avLst/>
          </a:prstGeom>
          <a:noFill/>
        </p:spPr>
        <p:txBody>
          <a:bodyPr wrap="square">
            <a:spAutoFit/>
          </a:bodyPr>
          <a:lstStyle/>
          <a:p>
            <a:pPr algn="l">
              <a:defRPr sz="1200" b="0">
                <a:solidFill>
                  <a:srgbClr val="CCCCCC"/>
                </a:solidFill>
                <a:latin typeface="Calibri"/>
              </a:defRPr>
            </a:pPr>
            <a:r>
              <a:t>Low (write prompts)</a:t>
            </a:r>
          </a:p>
        </p:txBody>
      </p:sp>
      <p:sp>
        <p:nvSpPr>
          <p:cNvPr id="18" name="Rectangle 17"/>
          <p:cNvSpPr/>
          <p:nvPr/>
        </p:nvSpPr>
        <p:spPr>
          <a:xfrm>
            <a:off x="9052560" y="196596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9720" y="2057400"/>
            <a:ext cx="2651760" cy="457200"/>
          </a:xfrm>
          <a:prstGeom prst="rect">
            <a:avLst/>
          </a:prstGeom>
          <a:noFill/>
        </p:spPr>
        <p:txBody>
          <a:bodyPr wrap="square">
            <a:spAutoFit/>
          </a:bodyPr>
          <a:lstStyle/>
          <a:p>
            <a:pPr algn="l">
              <a:defRPr sz="1200" b="0">
                <a:solidFill>
                  <a:srgbClr val="CCCCCC"/>
                </a:solidFill>
                <a:latin typeface="Calibri"/>
              </a:defRPr>
            </a:pPr>
            <a:r>
              <a:t>Medium (write tests)</a:t>
            </a:r>
          </a:p>
        </p:txBody>
      </p:sp>
      <p:sp>
        <p:nvSpPr>
          <p:cNvPr id="20" name="Rectangle 19"/>
          <p:cNvSpPr/>
          <p:nvPr/>
        </p:nvSpPr>
        <p:spPr>
          <a:xfrm>
            <a:off x="457200" y="2560320"/>
            <a:ext cx="274320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651760"/>
            <a:ext cx="2468880" cy="457200"/>
          </a:xfrm>
          <a:prstGeom prst="rect">
            <a:avLst/>
          </a:prstGeom>
          <a:noFill/>
        </p:spPr>
        <p:txBody>
          <a:bodyPr wrap="square">
            <a:spAutoFit/>
          </a:bodyPr>
          <a:lstStyle/>
          <a:p>
            <a:pPr algn="l">
              <a:defRPr sz="1200" b="0">
                <a:solidFill>
                  <a:srgbClr val="FFFFFF"/>
                </a:solidFill>
                <a:latin typeface="Calibri"/>
              </a:defRPr>
            </a:pPr>
            <a:r>
              <a:t>AI Output Quality</a:t>
            </a:r>
          </a:p>
        </p:txBody>
      </p:sp>
      <p:sp>
        <p:nvSpPr>
          <p:cNvPr id="22" name="Rectangle 21"/>
          <p:cNvSpPr/>
          <p:nvPr/>
        </p:nvSpPr>
        <p:spPr>
          <a:xfrm>
            <a:off x="3200400" y="256032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60" y="2651760"/>
            <a:ext cx="2651760" cy="457200"/>
          </a:xfrm>
          <a:prstGeom prst="rect">
            <a:avLst/>
          </a:prstGeom>
          <a:noFill/>
        </p:spPr>
        <p:txBody>
          <a:bodyPr wrap="square">
            <a:spAutoFit/>
          </a:bodyPr>
          <a:lstStyle/>
          <a:p>
            <a:pPr algn="l">
              <a:defRPr sz="1200" b="0">
                <a:solidFill>
                  <a:srgbClr val="00C97B"/>
                </a:solidFill>
                <a:latin typeface="Calibri"/>
              </a:defRPr>
            </a:pPr>
            <a:r>
              <a:t>High (precise)</a:t>
            </a:r>
          </a:p>
        </p:txBody>
      </p:sp>
      <p:sp>
        <p:nvSpPr>
          <p:cNvPr id="24" name="Rectangle 23"/>
          <p:cNvSpPr/>
          <p:nvPr/>
        </p:nvSpPr>
        <p:spPr>
          <a:xfrm>
            <a:off x="6126480" y="256032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2651760"/>
            <a:ext cx="2651760" cy="457200"/>
          </a:xfrm>
          <a:prstGeom prst="rect">
            <a:avLst/>
          </a:prstGeom>
          <a:noFill/>
        </p:spPr>
        <p:txBody>
          <a:bodyPr wrap="square">
            <a:spAutoFit/>
          </a:bodyPr>
          <a:lstStyle/>
          <a:p>
            <a:pPr algn="l">
              <a:defRPr sz="1200" b="0">
                <a:solidFill>
                  <a:srgbClr val="CCCCCC"/>
                </a:solidFill>
                <a:latin typeface="Calibri"/>
              </a:defRPr>
            </a:pPr>
            <a:r>
              <a:t>Variable (prompt-dependent)</a:t>
            </a:r>
          </a:p>
        </p:txBody>
      </p:sp>
      <p:sp>
        <p:nvSpPr>
          <p:cNvPr id="26" name="Rectangle 25"/>
          <p:cNvSpPr/>
          <p:nvPr/>
        </p:nvSpPr>
        <p:spPr>
          <a:xfrm>
            <a:off x="9052560" y="256032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9720" y="2651760"/>
            <a:ext cx="2651760" cy="457200"/>
          </a:xfrm>
          <a:prstGeom prst="rect">
            <a:avLst/>
          </a:prstGeom>
          <a:noFill/>
        </p:spPr>
        <p:txBody>
          <a:bodyPr wrap="square">
            <a:spAutoFit/>
          </a:bodyPr>
          <a:lstStyle/>
          <a:p>
            <a:pPr algn="l">
              <a:defRPr sz="1200" b="0">
                <a:solidFill>
                  <a:srgbClr val="CCCCCC"/>
                </a:solidFill>
                <a:latin typeface="Calibri"/>
              </a:defRPr>
            </a:pPr>
            <a:r>
              <a:t>Medium (test-constrained)</a:t>
            </a:r>
          </a:p>
        </p:txBody>
      </p:sp>
      <p:sp>
        <p:nvSpPr>
          <p:cNvPr id="28" name="Rectangle 27"/>
          <p:cNvSpPr/>
          <p:nvPr/>
        </p:nvSpPr>
        <p:spPr>
          <a:xfrm>
            <a:off x="457200" y="3154680"/>
            <a:ext cx="274320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246120"/>
            <a:ext cx="2468880" cy="457200"/>
          </a:xfrm>
          <a:prstGeom prst="rect">
            <a:avLst/>
          </a:prstGeom>
          <a:noFill/>
        </p:spPr>
        <p:txBody>
          <a:bodyPr wrap="square">
            <a:spAutoFit/>
          </a:bodyPr>
          <a:lstStyle/>
          <a:p>
            <a:pPr algn="l">
              <a:defRPr sz="1200" b="0">
                <a:solidFill>
                  <a:srgbClr val="FFFFFF"/>
                </a:solidFill>
                <a:latin typeface="Calibri"/>
              </a:defRPr>
            </a:pPr>
            <a:r>
              <a:t>Parallelization</a:t>
            </a:r>
          </a:p>
        </p:txBody>
      </p:sp>
      <p:sp>
        <p:nvSpPr>
          <p:cNvPr id="30" name="Rectangle 29"/>
          <p:cNvSpPr/>
          <p:nvPr/>
        </p:nvSpPr>
        <p:spPr>
          <a:xfrm>
            <a:off x="3200400" y="315468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3246120"/>
            <a:ext cx="2651760" cy="457200"/>
          </a:xfrm>
          <a:prstGeom prst="rect">
            <a:avLst/>
          </a:prstGeom>
          <a:noFill/>
        </p:spPr>
        <p:txBody>
          <a:bodyPr wrap="square">
            <a:spAutoFit/>
          </a:bodyPr>
          <a:lstStyle/>
          <a:p>
            <a:pPr algn="l">
              <a:defRPr sz="1200" b="0">
                <a:solidFill>
                  <a:srgbClr val="00C97B"/>
                </a:solidFill>
                <a:latin typeface="Calibri"/>
              </a:defRPr>
            </a:pPr>
            <a:r>
              <a:t>Excellent (independent specs)</a:t>
            </a:r>
          </a:p>
        </p:txBody>
      </p:sp>
      <p:sp>
        <p:nvSpPr>
          <p:cNvPr id="32" name="Rectangle 31"/>
          <p:cNvSpPr/>
          <p:nvPr/>
        </p:nvSpPr>
        <p:spPr>
          <a:xfrm>
            <a:off x="6126480" y="315468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3246120"/>
            <a:ext cx="2651760" cy="457200"/>
          </a:xfrm>
          <a:prstGeom prst="rect">
            <a:avLst/>
          </a:prstGeom>
          <a:noFill/>
        </p:spPr>
        <p:txBody>
          <a:bodyPr wrap="square">
            <a:spAutoFit/>
          </a:bodyPr>
          <a:lstStyle/>
          <a:p>
            <a:pPr algn="l">
              <a:defRPr sz="1200" b="0">
                <a:solidFill>
                  <a:srgbClr val="CCCCCC"/>
                </a:solidFill>
                <a:latin typeface="Calibri"/>
              </a:defRPr>
            </a:pPr>
            <a:r>
              <a:t>Poor (sequential)</a:t>
            </a:r>
          </a:p>
        </p:txBody>
      </p:sp>
      <p:sp>
        <p:nvSpPr>
          <p:cNvPr id="34" name="Rectangle 33"/>
          <p:cNvSpPr/>
          <p:nvPr/>
        </p:nvSpPr>
        <p:spPr>
          <a:xfrm>
            <a:off x="9052560" y="315468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9720" y="3246120"/>
            <a:ext cx="2651760" cy="457200"/>
          </a:xfrm>
          <a:prstGeom prst="rect">
            <a:avLst/>
          </a:prstGeom>
          <a:noFill/>
        </p:spPr>
        <p:txBody>
          <a:bodyPr wrap="square">
            <a:spAutoFit/>
          </a:bodyPr>
          <a:lstStyle/>
          <a:p>
            <a:pPr algn="l">
              <a:defRPr sz="1200" b="0">
                <a:solidFill>
                  <a:srgbClr val="CCCCCC"/>
                </a:solidFill>
                <a:latin typeface="Calibri"/>
              </a:defRPr>
            </a:pPr>
            <a:r>
              <a:t>Good (test suites)</a:t>
            </a:r>
          </a:p>
        </p:txBody>
      </p:sp>
      <p:sp>
        <p:nvSpPr>
          <p:cNvPr id="36" name="Rectangle 35"/>
          <p:cNvSpPr/>
          <p:nvPr/>
        </p:nvSpPr>
        <p:spPr>
          <a:xfrm>
            <a:off x="457200" y="3749040"/>
            <a:ext cx="274320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840480"/>
            <a:ext cx="2468880" cy="457200"/>
          </a:xfrm>
          <a:prstGeom prst="rect">
            <a:avLst/>
          </a:prstGeom>
          <a:noFill/>
        </p:spPr>
        <p:txBody>
          <a:bodyPr wrap="square">
            <a:spAutoFit/>
          </a:bodyPr>
          <a:lstStyle/>
          <a:p>
            <a:pPr algn="l">
              <a:defRPr sz="1200" b="0">
                <a:solidFill>
                  <a:srgbClr val="FFFFFF"/>
                </a:solidFill>
                <a:latin typeface="Calibri"/>
              </a:defRPr>
            </a:pPr>
            <a:r>
              <a:t>Documentation</a:t>
            </a:r>
          </a:p>
        </p:txBody>
      </p:sp>
      <p:sp>
        <p:nvSpPr>
          <p:cNvPr id="38" name="Rectangle 37"/>
          <p:cNvSpPr/>
          <p:nvPr/>
        </p:nvSpPr>
        <p:spPr>
          <a:xfrm>
            <a:off x="3200400" y="374904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37560" y="3840480"/>
            <a:ext cx="2651760" cy="457200"/>
          </a:xfrm>
          <a:prstGeom prst="rect">
            <a:avLst/>
          </a:prstGeom>
          <a:noFill/>
        </p:spPr>
        <p:txBody>
          <a:bodyPr wrap="square">
            <a:spAutoFit/>
          </a:bodyPr>
          <a:lstStyle/>
          <a:p>
            <a:pPr algn="l">
              <a:defRPr sz="1200" b="0">
                <a:solidFill>
                  <a:srgbClr val="00C97B"/>
                </a:solidFill>
                <a:latin typeface="Calibri"/>
              </a:defRPr>
            </a:pPr>
            <a:r>
              <a:t>Built-in (specs = docs)</a:t>
            </a:r>
          </a:p>
        </p:txBody>
      </p:sp>
      <p:sp>
        <p:nvSpPr>
          <p:cNvPr id="40" name="Rectangle 39"/>
          <p:cNvSpPr/>
          <p:nvPr/>
        </p:nvSpPr>
        <p:spPr>
          <a:xfrm>
            <a:off x="6126480" y="374904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3840480"/>
            <a:ext cx="2651760" cy="457200"/>
          </a:xfrm>
          <a:prstGeom prst="rect">
            <a:avLst/>
          </a:prstGeom>
          <a:noFill/>
        </p:spPr>
        <p:txBody>
          <a:bodyPr wrap="square">
            <a:spAutoFit/>
          </a:bodyPr>
          <a:lstStyle/>
          <a:p>
            <a:pPr algn="l">
              <a:defRPr sz="1200" b="0">
                <a:solidFill>
                  <a:srgbClr val="CCCCCC"/>
                </a:solidFill>
                <a:latin typeface="Calibri"/>
              </a:defRPr>
            </a:pPr>
            <a:r>
              <a:t>None</a:t>
            </a:r>
          </a:p>
        </p:txBody>
      </p:sp>
      <p:sp>
        <p:nvSpPr>
          <p:cNvPr id="42" name="Rectangle 41"/>
          <p:cNvSpPr/>
          <p:nvPr/>
        </p:nvSpPr>
        <p:spPr>
          <a:xfrm>
            <a:off x="9052560" y="374904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89720" y="3840480"/>
            <a:ext cx="2651760" cy="457200"/>
          </a:xfrm>
          <a:prstGeom prst="rect">
            <a:avLst/>
          </a:prstGeom>
          <a:noFill/>
        </p:spPr>
        <p:txBody>
          <a:bodyPr wrap="square">
            <a:spAutoFit/>
          </a:bodyPr>
          <a:lstStyle/>
          <a:p>
            <a:pPr algn="l">
              <a:defRPr sz="1200" b="0">
                <a:solidFill>
                  <a:srgbClr val="CCCCCC"/>
                </a:solidFill>
                <a:latin typeface="Calibri"/>
              </a:defRPr>
            </a:pPr>
            <a:r>
              <a:t>Tests as partial docs</a:t>
            </a:r>
          </a:p>
        </p:txBody>
      </p:sp>
      <p:sp>
        <p:nvSpPr>
          <p:cNvPr id="44" name="Rectangle 43"/>
          <p:cNvSpPr/>
          <p:nvPr/>
        </p:nvSpPr>
        <p:spPr>
          <a:xfrm>
            <a:off x="457200" y="4343400"/>
            <a:ext cx="274320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4434840"/>
            <a:ext cx="2468880" cy="457200"/>
          </a:xfrm>
          <a:prstGeom prst="rect">
            <a:avLst/>
          </a:prstGeom>
          <a:noFill/>
        </p:spPr>
        <p:txBody>
          <a:bodyPr wrap="square">
            <a:spAutoFit/>
          </a:bodyPr>
          <a:lstStyle/>
          <a:p>
            <a:pPr algn="l">
              <a:defRPr sz="1200" b="0">
                <a:solidFill>
                  <a:srgbClr val="FFFFFF"/>
                </a:solidFill>
                <a:latin typeface="Calibri"/>
              </a:defRPr>
            </a:pPr>
            <a:r>
              <a:t>Iteration Cycles</a:t>
            </a:r>
          </a:p>
        </p:txBody>
      </p:sp>
      <p:sp>
        <p:nvSpPr>
          <p:cNvPr id="46" name="Rectangle 45"/>
          <p:cNvSpPr/>
          <p:nvPr/>
        </p:nvSpPr>
        <p:spPr>
          <a:xfrm>
            <a:off x="3200400" y="434340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37560" y="4434840"/>
            <a:ext cx="2651760" cy="457200"/>
          </a:xfrm>
          <a:prstGeom prst="rect">
            <a:avLst/>
          </a:prstGeom>
          <a:noFill/>
        </p:spPr>
        <p:txBody>
          <a:bodyPr wrap="square">
            <a:spAutoFit/>
          </a:bodyPr>
          <a:lstStyle/>
          <a:p>
            <a:pPr algn="l">
              <a:defRPr sz="1200" b="0">
                <a:solidFill>
                  <a:srgbClr val="00C97B"/>
                </a:solidFill>
                <a:latin typeface="Calibri"/>
              </a:defRPr>
            </a:pPr>
            <a:r>
              <a:t>Few</a:t>
            </a:r>
          </a:p>
        </p:txBody>
      </p:sp>
      <p:sp>
        <p:nvSpPr>
          <p:cNvPr id="48" name="Rectangle 47"/>
          <p:cNvSpPr/>
          <p:nvPr/>
        </p:nvSpPr>
        <p:spPr>
          <a:xfrm>
            <a:off x="6126480" y="434340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4434840"/>
            <a:ext cx="2651760" cy="457200"/>
          </a:xfrm>
          <a:prstGeom prst="rect">
            <a:avLst/>
          </a:prstGeom>
          <a:noFill/>
        </p:spPr>
        <p:txBody>
          <a:bodyPr wrap="square">
            <a:spAutoFit/>
          </a:bodyPr>
          <a:lstStyle/>
          <a:p>
            <a:pPr algn="l">
              <a:defRPr sz="1200" b="0">
                <a:solidFill>
                  <a:srgbClr val="CCCCCC"/>
                </a:solidFill>
                <a:latin typeface="Calibri"/>
              </a:defRPr>
            </a:pPr>
            <a:r>
              <a:t>Many</a:t>
            </a:r>
          </a:p>
        </p:txBody>
      </p:sp>
      <p:sp>
        <p:nvSpPr>
          <p:cNvPr id="50" name="Rectangle 49"/>
          <p:cNvSpPr/>
          <p:nvPr/>
        </p:nvSpPr>
        <p:spPr>
          <a:xfrm>
            <a:off x="9052560" y="434340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89720" y="4434840"/>
            <a:ext cx="2651760" cy="457200"/>
          </a:xfrm>
          <a:prstGeom prst="rect">
            <a:avLst/>
          </a:prstGeom>
          <a:noFill/>
        </p:spPr>
        <p:txBody>
          <a:bodyPr wrap="square">
            <a:spAutoFit/>
          </a:bodyPr>
          <a:lstStyle/>
          <a:p>
            <a:pPr algn="l">
              <a:defRPr sz="1200" b="0">
                <a:solidFill>
                  <a:srgbClr val="CCCCCC"/>
                </a:solidFill>
                <a:latin typeface="Calibri"/>
              </a:defRPr>
            </a:pPr>
            <a:r>
              <a:t>Few to moderate</a:t>
            </a:r>
          </a:p>
        </p:txBody>
      </p:sp>
      <p:sp>
        <p:nvSpPr>
          <p:cNvPr id="52" name="Rectangle 51"/>
          <p:cNvSpPr/>
          <p:nvPr/>
        </p:nvSpPr>
        <p:spPr>
          <a:xfrm>
            <a:off x="457200" y="4937760"/>
            <a:ext cx="274320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5029200"/>
            <a:ext cx="2468880" cy="457200"/>
          </a:xfrm>
          <a:prstGeom prst="rect">
            <a:avLst/>
          </a:prstGeom>
          <a:noFill/>
        </p:spPr>
        <p:txBody>
          <a:bodyPr wrap="square">
            <a:spAutoFit/>
          </a:bodyPr>
          <a:lstStyle/>
          <a:p>
            <a:pPr algn="l">
              <a:defRPr sz="1200" b="0">
                <a:solidFill>
                  <a:srgbClr val="FFFFFF"/>
                </a:solidFill>
                <a:latin typeface="Calibri"/>
              </a:defRPr>
            </a:pPr>
            <a:r>
              <a:t>Scalability</a:t>
            </a:r>
          </a:p>
        </p:txBody>
      </p:sp>
      <p:sp>
        <p:nvSpPr>
          <p:cNvPr id="54" name="Rectangle 53"/>
          <p:cNvSpPr/>
          <p:nvPr/>
        </p:nvSpPr>
        <p:spPr>
          <a:xfrm>
            <a:off x="3200400" y="493776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37560" y="5029200"/>
            <a:ext cx="2651760" cy="457200"/>
          </a:xfrm>
          <a:prstGeom prst="rect">
            <a:avLst/>
          </a:prstGeom>
          <a:noFill/>
        </p:spPr>
        <p:txBody>
          <a:bodyPr wrap="square">
            <a:spAutoFit/>
          </a:bodyPr>
          <a:lstStyle/>
          <a:p>
            <a:pPr algn="l">
              <a:defRPr sz="1200" b="0">
                <a:solidFill>
                  <a:srgbClr val="00C97B"/>
                </a:solidFill>
                <a:latin typeface="Calibri"/>
              </a:defRPr>
            </a:pPr>
            <a:r>
              <a:t>Excellent</a:t>
            </a:r>
          </a:p>
        </p:txBody>
      </p:sp>
      <p:sp>
        <p:nvSpPr>
          <p:cNvPr id="56" name="Rectangle 55"/>
          <p:cNvSpPr/>
          <p:nvPr/>
        </p:nvSpPr>
        <p:spPr>
          <a:xfrm>
            <a:off x="6126480" y="493776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63640" y="5029200"/>
            <a:ext cx="2651760" cy="457200"/>
          </a:xfrm>
          <a:prstGeom prst="rect">
            <a:avLst/>
          </a:prstGeom>
          <a:noFill/>
        </p:spPr>
        <p:txBody>
          <a:bodyPr wrap="square">
            <a:spAutoFit/>
          </a:bodyPr>
          <a:lstStyle/>
          <a:p>
            <a:pPr algn="l">
              <a:defRPr sz="1200" b="0">
                <a:solidFill>
                  <a:srgbClr val="CCCCCC"/>
                </a:solidFill>
                <a:latin typeface="Calibri"/>
              </a:defRPr>
            </a:pPr>
            <a:r>
              <a:t>Poor</a:t>
            </a:r>
          </a:p>
        </p:txBody>
      </p:sp>
      <p:sp>
        <p:nvSpPr>
          <p:cNvPr id="58" name="Rectangle 57"/>
          <p:cNvSpPr/>
          <p:nvPr/>
        </p:nvSpPr>
        <p:spPr>
          <a:xfrm>
            <a:off x="9052560" y="4937760"/>
            <a:ext cx="2926080" cy="594360"/>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89720" y="5029200"/>
            <a:ext cx="2651760" cy="457200"/>
          </a:xfrm>
          <a:prstGeom prst="rect">
            <a:avLst/>
          </a:prstGeom>
          <a:noFill/>
        </p:spPr>
        <p:txBody>
          <a:bodyPr wrap="square">
            <a:spAutoFit/>
          </a:bodyPr>
          <a:lstStyle/>
          <a:p>
            <a:pPr algn="l">
              <a:defRPr sz="1200" b="0">
                <a:solidFill>
                  <a:srgbClr val="CCCCCC"/>
                </a:solidFill>
                <a:latin typeface="Calibri"/>
              </a:defRPr>
            </a:pPr>
            <a:r>
              <a:t>Good</a:t>
            </a:r>
          </a:p>
        </p:txBody>
      </p:sp>
      <p:sp>
        <p:nvSpPr>
          <p:cNvPr id="60" name="Rectangle 59"/>
          <p:cNvSpPr/>
          <p:nvPr/>
        </p:nvSpPr>
        <p:spPr>
          <a:xfrm>
            <a:off x="457200" y="5532120"/>
            <a:ext cx="274320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 y="5623560"/>
            <a:ext cx="2468880" cy="457200"/>
          </a:xfrm>
          <a:prstGeom prst="rect">
            <a:avLst/>
          </a:prstGeom>
          <a:noFill/>
        </p:spPr>
        <p:txBody>
          <a:bodyPr wrap="square">
            <a:spAutoFit/>
          </a:bodyPr>
          <a:lstStyle/>
          <a:p>
            <a:pPr algn="l">
              <a:defRPr sz="1200" b="0">
                <a:solidFill>
                  <a:srgbClr val="FFFFFF"/>
                </a:solidFill>
                <a:latin typeface="Calibri"/>
              </a:defRPr>
            </a:pPr>
            <a:r>
              <a:t>Best For</a:t>
            </a:r>
          </a:p>
        </p:txBody>
      </p:sp>
      <p:sp>
        <p:nvSpPr>
          <p:cNvPr id="62" name="Rectangle 61"/>
          <p:cNvSpPr/>
          <p:nvPr/>
        </p:nvSpPr>
        <p:spPr>
          <a:xfrm>
            <a:off x="3200400" y="553212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37560" y="5623560"/>
            <a:ext cx="2651760" cy="457200"/>
          </a:xfrm>
          <a:prstGeom prst="rect">
            <a:avLst/>
          </a:prstGeom>
          <a:noFill/>
        </p:spPr>
        <p:txBody>
          <a:bodyPr wrap="square">
            <a:spAutoFit/>
          </a:bodyPr>
          <a:lstStyle/>
          <a:p>
            <a:pPr algn="l">
              <a:defRPr sz="1200" b="0">
                <a:solidFill>
                  <a:srgbClr val="00C97B"/>
                </a:solidFill>
                <a:latin typeface="Calibri"/>
              </a:defRPr>
            </a:pPr>
            <a:r>
              <a:t>Multi-component systems</a:t>
            </a:r>
          </a:p>
        </p:txBody>
      </p:sp>
      <p:sp>
        <p:nvSpPr>
          <p:cNvPr id="64" name="Rectangle 63"/>
          <p:cNvSpPr/>
          <p:nvPr/>
        </p:nvSpPr>
        <p:spPr>
          <a:xfrm>
            <a:off x="6126480" y="553212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63640" y="5623560"/>
            <a:ext cx="2651760" cy="457200"/>
          </a:xfrm>
          <a:prstGeom prst="rect">
            <a:avLst/>
          </a:prstGeom>
          <a:noFill/>
        </p:spPr>
        <p:txBody>
          <a:bodyPr wrap="square">
            <a:spAutoFit/>
          </a:bodyPr>
          <a:lstStyle/>
          <a:p>
            <a:pPr algn="l">
              <a:defRPr sz="1200" b="0">
                <a:solidFill>
                  <a:srgbClr val="CCCCCC"/>
                </a:solidFill>
                <a:latin typeface="Calibri"/>
              </a:defRPr>
            </a:pPr>
            <a:r>
              <a:t>Small, one-off tasks</a:t>
            </a:r>
          </a:p>
        </p:txBody>
      </p:sp>
      <p:sp>
        <p:nvSpPr>
          <p:cNvPr id="66" name="Rectangle 65"/>
          <p:cNvSpPr/>
          <p:nvPr/>
        </p:nvSpPr>
        <p:spPr>
          <a:xfrm>
            <a:off x="9052560" y="5532120"/>
            <a:ext cx="2926080" cy="59436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89720" y="5623560"/>
            <a:ext cx="2651760" cy="457200"/>
          </a:xfrm>
          <a:prstGeom prst="rect">
            <a:avLst/>
          </a:prstGeom>
          <a:noFill/>
        </p:spPr>
        <p:txBody>
          <a:bodyPr wrap="square">
            <a:spAutoFit/>
          </a:bodyPr>
          <a:lstStyle/>
          <a:p>
            <a:pPr algn="l">
              <a:defRPr sz="1200" b="0">
                <a:solidFill>
                  <a:srgbClr val="CCCCCC"/>
                </a:solidFill>
                <a:latin typeface="Calibri"/>
              </a:defRPr>
            </a:pPr>
            <a:r>
              <a:t>Well-defined algorithms</a:t>
            </a:r>
          </a:p>
        </p:txBody>
      </p:sp>
      <p:sp>
        <p:nvSpPr>
          <p:cNvPr id="68" name="TextBox 67"/>
          <p:cNvSpPr txBox="1"/>
          <p:nvPr/>
        </p:nvSpPr>
        <p:spPr>
          <a:xfrm>
            <a:off x="731520" y="6217920"/>
            <a:ext cx="10515600" cy="457200"/>
          </a:xfrm>
          <a:prstGeom prst="rect">
            <a:avLst/>
          </a:prstGeom>
          <a:noFill/>
        </p:spPr>
        <p:txBody>
          <a:bodyPr wrap="square">
            <a:spAutoFit/>
          </a:bodyPr>
          <a:lstStyle/>
          <a:p>
            <a:pPr algn="ctr">
              <a:defRPr sz="1600" b="1">
                <a:solidFill>
                  <a:srgbClr val="0096D6"/>
                </a:solidFill>
                <a:latin typeface="Calibri"/>
              </a:defRPr>
            </a:pPr>
            <a:r>
              <a:t>SDD excels at complex, multi-component systems where AI agents need clear boundaries and precise instructions.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HOW TO GET STARTED</a:t>
            </a:r>
          </a:p>
        </p:txBody>
      </p:sp>
      <p:sp>
        <p:nvSpPr>
          <p:cNvPr id="4" name="Rectangle 3"/>
          <p:cNvSpPr/>
          <p:nvPr/>
        </p:nvSpPr>
        <p:spPr>
          <a:xfrm>
            <a:off x="457200" y="1371600"/>
            <a:ext cx="3566160" cy="2286000"/>
          </a:xfrm>
          <a:prstGeom prst="rect">
            <a:avLst/>
          </a:prstGeom>
          <a:solidFill>
            <a:srgbClr val="24243E"/>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54480"/>
            <a:ext cx="457200" cy="457200"/>
          </a:xfrm>
          <a:prstGeom prst="ellipse">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457200" cy="411480"/>
          </a:xfrm>
          <a:prstGeom prst="rect">
            <a:avLst/>
          </a:prstGeom>
          <a:noFill/>
        </p:spPr>
        <p:txBody>
          <a:bodyPr wrap="square">
            <a:spAutoFit/>
          </a:bodyPr>
          <a:lstStyle/>
          <a:p>
            <a:pPr algn="ctr">
              <a:defRPr sz="2200" b="1">
                <a:solidFill>
                  <a:srgbClr val="FFFFFF"/>
                </a:solidFill>
                <a:latin typeface="Calibri"/>
              </a:defRPr>
            </a:pPr>
            <a:r>
              <a:t>1</a:t>
            </a:r>
          </a:p>
        </p:txBody>
      </p:sp>
      <p:sp>
        <p:nvSpPr>
          <p:cNvPr id="7" name="TextBox 6"/>
          <p:cNvSpPr txBox="1"/>
          <p:nvPr/>
        </p:nvSpPr>
        <p:spPr>
          <a:xfrm>
            <a:off x="1234440" y="1600200"/>
            <a:ext cx="2560320" cy="365760"/>
          </a:xfrm>
          <a:prstGeom prst="rect">
            <a:avLst/>
          </a:prstGeom>
          <a:noFill/>
        </p:spPr>
        <p:txBody>
          <a:bodyPr wrap="square">
            <a:spAutoFit/>
          </a:bodyPr>
          <a:lstStyle/>
          <a:p>
            <a:pPr algn="l">
              <a:defRPr sz="1500" b="1">
                <a:solidFill>
                  <a:srgbClr val="0096D6"/>
                </a:solidFill>
                <a:latin typeface="Calibri"/>
              </a:defRPr>
            </a:pPr>
            <a:r>
              <a:t>DEFINE YOUR FEATURE</a:t>
            </a:r>
          </a:p>
        </p:txBody>
      </p:sp>
      <p:sp>
        <p:nvSpPr>
          <p:cNvPr id="8" name="TextBox 7"/>
          <p:cNvSpPr txBox="1"/>
          <p:nvPr/>
        </p:nvSpPr>
        <p:spPr>
          <a:xfrm>
            <a:off x="640080" y="2194560"/>
            <a:ext cx="3200400" cy="1188720"/>
          </a:xfrm>
          <a:prstGeom prst="rect">
            <a:avLst/>
          </a:prstGeom>
          <a:noFill/>
        </p:spPr>
        <p:txBody>
          <a:bodyPr wrap="square">
            <a:spAutoFit/>
          </a:bodyPr>
          <a:lstStyle/>
          <a:p>
            <a:pPr algn="l">
              <a:defRPr sz="1300" b="0">
                <a:solidFill>
                  <a:srgbClr val="CCCCCC"/>
                </a:solidFill>
                <a:latin typeface="Calibri"/>
              </a:defRPr>
            </a:pPr>
            <a:r>
              <a:t>What are you building? Write a one-paragraph summary with tech stack choices.</a:t>
            </a:r>
          </a:p>
        </p:txBody>
      </p:sp>
      <p:sp>
        <p:nvSpPr>
          <p:cNvPr id="9" name="Rectangle 8"/>
          <p:cNvSpPr/>
          <p:nvPr/>
        </p:nvSpPr>
        <p:spPr>
          <a:xfrm>
            <a:off x="4297680" y="1371600"/>
            <a:ext cx="3566160" cy="2286000"/>
          </a:xfrm>
          <a:prstGeom prst="rect">
            <a:avLst/>
          </a:prstGeom>
          <a:solidFill>
            <a:srgbClr val="24243E"/>
          </a:solidFill>
          <a:ln w="19050">
            <a:solidFill>
              <a:srgbClr val="00C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80560" y="1554480"/>
            <a:ext cx="457200" cy="457200"/>
          </a:xfrm>
          <a:prstGeom prst="ellipse">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572768"/>
            <a:ext cx="457200" cy="411480"/>
          </a:xfrm>
          <a:prstGeom prst="rect">
            <a:avLst/>
          </a:prstGeom>
          <a:noFill/>
        </p:spPr>
        <p:txBody>
          <a:bodyPr wrap="square">
            <a:spAutoFit/>
          </a:bodyPr>
          <a:lstStyle/>
          <a:p>
            <a:pPr algn="ctr">
              <a:defRPr sz="2200" b="1">
                <a:solidFill>
                  <a:srgbClr val="FFFFFF"/>
                </a:solidFill>
                <a:latin typeface="Calibri"/>
              </a:defRPr>
            </a:pPr>
            <a:r>
              <a:t>2</a:t>
            </a:r>
          </a:p>
        </p:txBody>
      </p:sp>
      <p:sp>
        <p:nvSpPr>
          <p:cNvPr id="12" name="TextBox 11"/>
          <p:cNvSpPr txBox="1"/>
          <p:nvPr/>
        </p:nvSpPr>
        <p:spPr>
          <a:xfrm>
            <a:off x="5074920" y="1600200"/>
            <a:ext cx="2560320" cy="365760"/>
          </a:xfrm>
          <a:prstGeom prst="rect">
            <a:avLst/>
          </a:prstGeom>
          <a:noFill/>
        </p:spPr>
        <p:txBody>
          <a:bodyPr wrap="square">
            <a:spAutoFit/>
          </a:bodyPr>
          <a:lstStyle/>
          <a:p>
            <a:pPr algn="l">
              <a:defRPr sz="1500" b="1">
                <a:solidFill>
                  <a:srgbClr val="00C97B"/>
                </a:solidFill>
                <a:latin typeface="Calibri"/>
              </a:defRPr>
            </a:pPr>
            <a:r>
              <a:t>WRITE PROJECT OVERVIEW SPEC</a:t>
            </a:r>
          </a:p>
        </p:txBody>
      </p:sp>
      <p:sp>
        <p:nvSpPr>
          <p:cNvPr id="13" name="TextBox 12"/>
          <p:cNvSpPr txBox="1"/>
          <p:nvPr/>
        </p:nvSpPr>
        <p:spPr>
          <a:xfrm>
            <a:off x="4480560" y="2194560"/>
            <a:ext cx="3200400" cy="1188720"/>
          </a:xfrm>
          <a:prstGeom prst="rect">
            <a:avLst/>
          </a:prstGeom>
          <a:noFill/>
        </p:spPr>
        <p:txBody>
          <a:bodyPr wrap="square">
            <a:spAutoFit/>
          </a:bodyPr>
          <a:lstStyle/>
          <a:p>
            <a:pPr algn="l">
              <a:defRPr sz="1300" b="0">
                <a:solidFill>
                  <a:srgbClr val="CCCCCC"/>
                </a:solidFill>
                <a:latin typeface="Calibri"/>
              </a:defRPr>
            </a:pPr>
            <a:r>
              <a:t>Architecture diagram, file structure, dependencies, deployment. This is your north star.</a:t>
            </a:r>
          </a:p>
        </p:txBody>
      </p:sp>
      <p:sp>
        <p:nvSpPr>
          <p:cNvPr id="14" name="Rectangle 13"/>
          <p:cNvSpPr/>
          <p:nvPr/>
        </p:nvSpPr>
        <p:spPr>
          <a:xfrm>
            <a:off x="8138160" y="1371600"/>
            <a:ext cx="3566160" cy="2286000"/>
          </a:xfrm>
          <a:prstGeom prst="rect">
            <a:avLst/>
          </a:prstGeom>
          <a:solidFill>
            <a:srgbClr val="24243E"/>
          </a:solidFill>
          <a:ln w="19050">
            <a:solidFill>
              <a:srgbClr val="7C5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1554480"/>
            <a:ext cx="457200" cy="457200"/>
          </a:xfrm>
          <a:prstGeom prst="ellipse">
            <a:avLst/>
          </a:prstGeom>
          <a:solidFill>
            <a:srgbClr val="7C5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572768"/>
            <a:ext cx="457200" cy="411480"/>
          </a:xfrm>
          <a:prstGeom prst="rect">
            <a:avLst/>
          </a:prstGeom>
          <a:noFill/>
        </p:spPr>
        <p:txBody>
          <a:bodyPr wrap="square">
            <a:spAutoFit/>
          </a:bodyPr>
          <a:lstStyle/>
          <a:p>
            <a:pPr algn="ctr">
              <a:defRPr sz="2200" b="1">
                <a:solidFill>
                  <a:srgbClr val="FFFFFF"/>
                </a:solidFill>
                <a:latin typeface="Calibri"/>
              </a:defRPr>
            </a:pPr>
            <a:r>
              <a:t>3</a:t>
            </a:r>
          </a:p>
        </p:txBody>
      </p:sp>
      <p:sp>
        <p:nvSpPr>
          <p:cNvPr id="17" name="TextBox 16"/>
          <p:cNvSpPr txBox="1"/>
          <p:nvPr/>
        </p:nvSpPr>
        <p:spPr>
          <a:xfrm>
            <a:off x="8915400" y="1600200"/>
            <a:ext cx="2560320" cy="365760"/>
          </a:xfrm>
          <a:prstGeom prst="rect">
            <a:avLst/>
          </a:prstGeom>
          <a:noFill/>
        </p:spPr>
        <p:txBody>
          <a:bodyPr wrap="square">
            <a:spAutoFit/>
          </a:bodyPr>
          <a:lstStyle/>
          <a:p>
            <a:pPr algn="l">
              <a:defRPr sz="1500" b="1">
                <a:solidFill>
                  <a:srgbClr val="7C5CFC"/>
                </a:solidFill>
                <a:latin typeface="Calibri"/>
              </a:defRPr>
            </a:pPr>
            <a:r>
              <a:t>DEFINE SHARED TYPES</a:t>
            </a:r>
          </a:p>
        </p:txBody>
      </p:sp>
      <p:sp>
        <p:nvSpPr>
          <p:cNvPr id="18" name="TextBox 17"/>
          <p:cNvSpPr txBox="1"/>
          <p:nvPr/>
        </p:nvSpPr>
        <p:spPr>
          <a:xfrm>
            <a:off x="8321040" y="2194560"/>
            <a:ext cx="3200400" cy="1188720"/>
          </a:xfrm>
          <a:prstGeom prst="rect">
            <a:avLst/>
          </a:prstGeom>
          <a:noFill/>
        </p:spPr>
        <p:txBody>
          <a:bodyPr wrap="square">
            <a:spAutoFit/>
          </a:bodyPr>
          <a:lstStyle/>
          <a:p>
            <a:pPr algn="l">
              <a:defRPr sz="1300" b="0">
                <a:solidFill>
                  <a:srgbClr val="CCCCCC"/>
                </a:solidFill>
                <a:latin typeface="Calibri"/>
              </a:defRPr>
            </a:pPr>
            <a:r>
              <a:t>TypeScript interfaces that cross component boundaries. Types are contracts.</a:t>
            </a:r>
          </a:p>
        </p:txBody>
      </p:sp>
      <p:sp>
        <p:nvSpPr>
          <p:cNvPr id="19" name="Rectangle 18"/>
          <p:cNvSpPr/>
          <p:nvPr/>
        </p:nvSpPr>
        <p:spPr>
          <a:xfrm>
            <a:off x="457200" y="3931920"/>
            <a:ext cx="3566160" cy="2286000"/>
          </a:xfrm>
          <a:prstGeom prst="rect">
            <a:avLst/>
          </a:prstGeom>
          <a:solidFill>
            <a:srgbClr val="24243E"/>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 y="4114800"/>
            <a:ext cx="457200" cy="45720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133088"/>
            <a:ext cx="457200" cy="411480"/>
          </a:xfrm>
          <a:prstGeom prst="rect">
            <a:avLst/>
          </a:prstGeom>
          <a:noFill/>
        </p:spPr>
        <p:txBody>
          <a:bodyPr wrap="square">
            <a:spAutoFit/>
          </a:bodyPr>
          <a:lstStyle/>
          <a:p>
            <a:pPr algn="ctr">
              <a:defRPr sz="2200" b="1">
                <a:solidFill>
                  <a:srgbClr val="FFFFFF"/>
                </a:solidFill>
                <a:latin typeface="Calibri"/>
              </a:defRPr>
            </a:pPr>
            <a:r>
              <a:t>4</a:t>
            </a:r>
          </a:p>
        </p:txBody>
      </p:sp>
      <p:sp>
        <p:nvSpPr>
          <p:cNvPr id="22" name="TextBox 21"/>
          <p:cNvSpPr txBox="1"/>
          <p:nvPr/>
        </p:nvSpPr>
        <p:spPr>
          <a:xfrm>
            <a:off x="1234440" y="4160520"/>
            <a:ext cx="2560320" cy="365760"/>
          </a:xfrm>
          <a:prstGeom prst="rect">
            <a:avLst/>
          </a:prstGeom>
          <a:noFill/>
        </p:spPr>
        <p:txBody>
          <a:bodyPr wrap="square">
            <a:spAutoFit/>
          </a:bodyPr>
          <a:lstStyle/>
          <a:p>
            <a:pPr algn="l">
              <a:defRPr sz="1500" b="1">
                <a:solidFill>
                  <a:srgbClr val="FF8C42"/>
                </a:solidFill>
                <a:latin typeface="Calibri"/>
              </a:defRPr>
            </a:pPr>
            <a:r>
              <a:t>SPEC EACH COMPONENT</a:t>
            </a:r>
          </a:p>
        </p:txBody>
      </p:sp>
      <p:sp>
        <p:nvSpPr>
          <p:cNvPr id="23" name="TextBox 22"/>
          <p:cNvSpPr txBox="1"/>
          <p:nvPr/>
        </p:nvSpPr>
        <p:spPr>
          <a:xfrm>
            <a:off x="640080" y="4754880"/>
            <a:ext cx="3200400" cy="1188720"/>
          </a:xfrm>
          <a:prstGeom prst="rect">
            <a:avLst/>
          </a:prstGeom>
          <a:noFill/>
        </p:spPr>
        <p:txBody>
          <a:bodyPr wrap="square">
            <a:spAutoFit/>
          </a:bodyPr>
          <a:lstStyle/>
          <a:p>
            <a:pPr algn="l">
              <a:defRPr sz="1300" b="0">
                <a:solidFill>
                  <a:srgbClr val="CCCCCC"/>
                </a:solidFill>
                <a:latin typeface="Calibri"/>
              </a:defRPr>
            </a:pPr>
            <a:r>
              <a:t>One file per service, controller, hook, or UI component. Include methods, behavior, edge cases.</a:t>
            </a:r>
          </a:p>
        </p:txBody>
      </p:sp>
      <p:sp>
        <p:nvSpPr>
          <p:cNvPr id="24" name="Rectangle 23"/>
          <p:cNvSpPr/>
          <p:nvPr/>
        </p:nvSpPr>
        <p:spPr>
          <a:xfrm>
            <a:off x="4297680" y="3931920"/>
            <a:ext cx="3566160" cy="2286000"/>
          </a:xfrm>
          <a:prstGeom prst="rect">
            <a:avLst/>
          </a:prstGeom>
          <a:solidFill>
            <a:srgbClr val="24243E"/>
          </a:solidFill>
          <a:ln w="1905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80560" y="4114800"/>
            <a:ext cx="457200" cy="45720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4133088"/>
            <a:ext cx="457200" cy="411480"/>
          </a:xfrm>
          <a:prstGeom prst="rect">
            <a:avLst/>
          </a:prstGeom>
          <a:noFill/>
        </p:spPr>
        <p:txBody>
          <a:bodyPr wrap="square">
            <a:spAutoFit/>
          </a:bodyPr>
          <a:lstStyle/>
          <a:p>
            <a:pPr algn="ctr">
              <a:defRPr sz="2200" b="1">
                <a:solidFill>
                  <a:srgbClr val="FFFFFF"/>
                </a:solidFill>
                <a:latin typeface="Calibri"/>
              </a:defRPr>
            </a:pPr>
            <a:r>
              <a:t>5</a:t>
            </a:r>
          </a:p>
        </p:txBody>
      </p:sp>
      <p:sp>
        <p:nvSpPr>
          <p:cNvPr id="27" name="TextBox 26"/>
          <p:cNvSpPr txBox="1"/>
          <p:nvPr/>
        </p:nvSpPr>
        <p:spPr>
          <a:xfrm>
            <a:off x="5074920" y="4160520"/>
            <a:ext cx="2560320" cy="365760"/>
          </a:xfrm>
          <a:prstGeom prst="rect">
            <a:avLst/>
          </a:prstGeom>
          <a:noFill/>
        </p:spPr>
        <p:txBody>
          <a:bodyPr wrap="square">
            <a:spAutoFit/>
          </a:bodyPr>
          <a:lstStyle/>
          <a:p>
            <a:pPr algn="l">
              <a:defRPr sz="1500" b="1">
                <a:solidFill>
                  <a:srgbClr val="00BCD4"/>
                </a:solidFill>
                <a:latin typeface="Calibri"/>
              </a:defRPr>
            </a:pPr>
            <a:r>
              <a:t>ADD DATA FLOW &amp; ERROR SPEC</a:t>
            </a:r>
          </a:p>
        </p:txBody>
      </p:sp>
      <p:sp>
        <p:nvSpPr>
          <p:cNvPr id="28" name="TextBox 27"/>
          <p:cNvSpPr txBox="1"/>
          <p:nvPr/>
        </p:nvSpPr>
        <p:spPr>
          <a:xfrm>
            <a:off x="4480560" y="4754880"/>
            <a:ext cx="3200400" cy="1188720"/>
          </a:xfrm>
          <a:prstGeom prst="rect">
            <a:avLst/>
          </a:prstGeom>
          <a:noFill/>
        </p:spPr>
        <p:txBody>
          <a:bodyPr wrap="square">
            <a:spAutoFit/>
          </a:bodyPr>
          <a:lstStyle/>
          <a:p>
            <a:pPr algn="l">
              <a:defRPr sz="1300" b="0">
                <a:solidFill>
                  <a:srgbClr val="CCCCCC"/>
                </a:solidFill>
                <a:latin typeface="Calibri"/>
              </a:defRPr>
            </a:pPr>
            <a:r>
              <a:t>Document happy paths, error scenarios, and how data moves end-to-end.</a:t>
            </a:r>
          </a:p>
        </p:txBody>
      </p:sp>
      <p:sp>
        <p:nvSpPr>
          <p:cNvPr id="29" name="Rectangle 28"/>
          <p:cNvSpPr/>
          <p:nvPr/>
        </p:nvSpPr>
        <p:spPr>
          <a:xfrm>
            <a:off x="8138160" y="3931920"/>
            <a:ext cx="3566160" cy="2286000"/>
          </a:xfrm>
          <a:prstGeom prst="rect">
            <a:avLst/>
          </a:prstGeom>
          <a:solidFill>
            <a:srgbClr val="24243E"/>
          </a:solidFill>
          <a:ln w="1905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21040" y="4114800"/>
            <a:ext cx="457200" cy="457200"/>
          </a:xfrm>
          <a:prstGeom prst="ellipse">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4133088"/>
            <a:ext cx="457200" cy="411480"/>
          </a:xfrm>
          <a:prstGeom prst="rect">
            <a:avLst/>
          </a:prstGeom>
          <a:noFill/>
        </p:spPr>
        <p:txBody>
          <a:bodyPr wrap="square">
            <a:spAutoFit/>
          </a:bodyPr>
          <a:lstStyle/>
          <a:p>
            <a:pPr algn="ctr">
              <a:defRPr sz="2200" b="1">
                <a:solidFill>
                  <a:srgbClr val="FFFFFF"/>
                </a:solidFill>
                <a:latin typeface="Calibri"/>
              </a:defRPr>
            </a:pPr>
            <a:r>
              <a:t>6</a:t>
            </a:r>
          </a:p>
        </p:txBody>
      </p:sp>
      <p:sp>
        <p:nvSpPr>
          <p:cNvPr id="32" name="TextBox 31"/>
          <p:cNvSpPr txBox="1"/>
          <p:nvPr/>
        </p:nvSpPr>
        <p:spPr>
          <a:xfrm>
            <a:off x="8915400" y="4160520"/>
            <a:ext cx="2560320" cy="365760"/>
          </a:xfrm>
          <a:prstGeom prst="rect">
            <a:avLst/>
          </a:prstGeom>
          <a:noFill/>
        </p:spPr>
        <p:txBody>
          <a:bodyPr wrap="square">
            <a:spAutoFit/>
          </a:bodyPr>
          <a:lstStyle/>
          <a:p>
            <a:pPr algn="l">
              <a:defRPr sz="1500" b="1">
                <a:solidFill>
                  <a:srgbClr val="FFD54F"/>
                </a:solidFill>
                <a:latin typeface="Calibri"/>
              </a:defRPr>
            </a:pPr>
            <a:r>
              <a:t>CREATE IMPLEMENTATION PLAN</a:t>
            </a:r>
          </a:p>
        </p:txBody>
      </p:sp>
      <p:sp>
        <p:nvSpPr>
          <p:cNvPr id="33" name="TextBox 32"/>
          <p:cNvSpPr txBox="1"/>
          <p:nvPr/>
        </p:nvSpPr>
        <p:spPr>
          <a:xfrm>
            <a:off x="8321040" y="4754880"/>
            <a:ext cx="3200400" cy="1188720"/>
          </a:xfrm>
          <a:prstGeom prst="rect">
            <a:avLst/>
          </a:prstGeom>
          <a:noFill/>
        </p:spPr>
        <p:txBody>
          <a:bodyPr wrap="square">
            <a:spAutoFit/>
          </a:bodyPr>
          <a:lstStyle/>
          <a:p>
            <a:pPr algn="l">
              <a:defRPr sz="1300" b="0">
                <a:solidFill>
                  <a:srgbClr val="CCCCCC"/>
                </a:solidFill>
                <a:latin typeface="Calibri"/>
              </a:defRPr>
            </a:pPr>
            <a:r>
              <a:t>Ordered tasks with file maps, checkboxes, and code snippets. Hand to AI agents.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96D6"/>
                </a:solidFill>
                <a:latin typeface="Calibri"/>
              </a:defRPr>
            </a:pPr>
            <a:r>
              <a:t>KEY TAKEAWAYS</a:t>
            </a:r>
          </a:p>
        </p:txBody>
      </p:sp>
      <p:sp>
        <p:nvSpPr>
          <p:cNvPr id="4" name="Rectangle 3"/>
          <p:cNvSpPr/>
          <p:nvPr/>
        </p:nvSpPr>
        <p:spPr>
          <a:xfrm>
            <a:off x="731520" y="1463040"/>
            <a:ext cx="10515600" cy="1097280"/>
          </a:xfrm>
          <a:prstGeom prst="rect">
            <a:avLst/>
          </a:prstGeom>
          <a:solidFill>
            <a:srgbClr val="24243E"/>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54864" cy="109728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00200"/>
            <a:ext cx="9875520" cy="365760"/>
          </a:xfrm>
          <a:prstGeom prst="rect">
            <a:avLst/>
          </a:prstGeom>
          <a:noFill/>
        </p:spPr>
        <p:txBody>
          <a:bodyPr wrap="square">
            <a:spAutoFit/>
          </a:bodyPr>
          <a:lstStyle/>
          <a:p>
            <a:pPr algn="l">
              <a:defRPr sz="2000" b="1">
                <a:solidFill>
                  <a:srgbClr val="0096D6"/>
                </a:solidFill>
                <a:latin typeface="Calibri"/>
              </a:defRPr>
            </a:pPr>
            <a:r>
              <a:t>Specs are precise prompts for AI</a:t>
            </a:r>
          </a:p>
        </p:txBody>
      </p:sp>
      <p:sp>
        <p:nvSpPr>
          <p:cNvPr id="7" name="TextBox 6"/>
          <p:cNvSpPr txBox="1"/>
          <p:nvPr/>
        </p:nvSpPr>
        <p:spPr>
          <a:xfrm>
            <a:off x="1097280" y="2011680"/>
            <a:ext cx="9875520" cy="457200"/>
          </a:xfrm>
          <a:prstGeom prst="rect">
            <a:avLst/>
          </a:prstGeom>
          <a:noFill/>
        </p:spPr>
        <p:txBody>
          <a:bodyPr wrap="square">
            <a:spAutoFit/>
          </a:bodyPr>
          <a:lstStyle/>
          <a:p>
            <a:pPr algn="l">
              <a:defRPr sz="1500" b="0">
                <a:solidFill>
                  <a:srgbClr val="CCCCCC"/>
                </a:solidFill>
                <a:latin typeface="Calibri"/>
              </a:defRPr>
            </a:pPr>
            <a:r>
              <a:t>The better your spec, the better the AI output. Invest time in specs, save time in implementation.</a:t>
            </a:r>
          </a:p>
        </p:txBody>
      </p:sp>
      <p:sp>
        <p:nvSpPr>
          <p:cNvPr id="8" name="Rectangle 7"/>
          <p:cNvSpPr/>
          <p:nvPr/>
        </p:nvSpPr>
        <p:spPr>
          <a:xfrm>
            <a:off x="731520" y="2743200"/>
            <a:ext cx="10515600" cy="1097280"/>
          </a:xfrm>
          <a:prstGeom prst="rect">
            <a:avLst/>
          </a:prstGeom>
          <a:solidFill>
            <a:srgbClr val="24243E"/>
          </a:solidFill>
          <a:ln w="19050">
            <a:solidFill>
              <a:srgbClr val="00C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743200"/>
            <a:ext cx="54864" cy="1097280"/>
          </a:xfrm>
          <a:prstGeom prst="rect">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880360"/>
            <a:ext cx="9875520" cy="365760"/>
          </a:xfrm>
          <a:prstGeom prst="rect">
            <a:avLst/>
          </a:prstGeom>
          <a:noFill/>
        </p:spPr>
        <p:txBody>
          <a:bodyPr wrap="square">
            <a:spAutoFit/>
          </a:bodyPr>
          <a:lstStyle/>
          <a:p>
            <a:pPr algn="l">
              <a:defRPr sz="2000" b="1">
                <a:solidFill>
                  <a:srgbClr val="00C97B"/>
                </a:solidFill>
                <a:latin typeface="Calibri"/>
              </a:defRPr>
            </a:pPr>
            <a:r>
              <a:t>Atomic specs enable parallel work</a:t>
            </a:r>
          </a:p>
        </p:txBody>
      </p:sp>
      <p:sp>
        <p:nvSpPr>
          <p:cNvPr id="11" name="TextBox 10"/>
          <p:cNvSpPr txBox="1"/>
          <p:nvPr/>
        </p:nvSpPr>
        <p:spPr>
          <a:xfrm>
            <a:off x="1097280" y="3291840"/>
            <a:ext cx="9875520" cy="457200"/>
          </a:xfrm>
          <a:prstGeom prst="rect">
            <a:avLst/>
          </a:prstGeom>
          <a:noFill/>
        </p:spPr>
        <p:txBody>
          <a:bodyPr wrap="square">
            <a:spAutoFit/>
          </a:bodyPr>
          <a:lstStyle/>
          <a:p>
            <a:pPr algn="l">
              <a:defRPr sz="1500" b="0">
                <a:solidFill>
                  <a:srgbClr val="CCCCCC"/>
                </a:solidFill>
                <a:latin typeface="Calibri"/>
              </a:defRPr>
            </a:pPr>
            <a:r>
              <a:t>Independent specs let multiple agents (or developers) work simultaneously without conflicts.</a:t>
            </a:r>
          </a:p>
        </p:txBody>
      </p:sp>
      <p:sp>
        <p:nvSpPr>
          <p:cNvPr id="12" name="Rectangle 11"/>
          <p:cNvSpPr/>
          <p:nvPr/>
        </p:nvSpPr>
        <p:spPr>
          <a:xfrm>
            <a:off x="731520" y="4023360"/>
            <a:ext cx="10515600" cy="1097280"/>
          </a:xfrm>
          <a:prstGeom prst="rect">
            <a:avLst/>
          </a:prstGeom>
          <a:solidFill>
            <a:srgbClr val="24243E"/>
          </a:solidFill>
          <a:ln w="19050">
            <a:solidFill>
              <a:srgbClr val="7C5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23360"/>
            <a:ext cx="54864" cy="1097280"/>
          </a:xfrm>
          <a:prstGeom prst="rect">
            <a:avLst/>
          </a:prstGeom>
          <a:solidFill>
            <a:srgbClr val="7C5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160520"/>
            <a:ext cx="9875520" cy="365760"/>
          </a:xfrm>
          <a:prstGeom prst="rect">
            <a:avLst/>
          </a:prstGeom>
          <a:noFill/>
        </p:spPr>
        <p:txBody>
          <a:bodyPr wrap="square">
            <a:spAutoFit/>
          </a:bodyPr>
          <a:lstStyle/>
          <a:p>
            <a:pPr algn="l">
              <a:defRPr sz="2000" b="1">
                <a:solidFill>
                  <a:srgbClr val="7C5CFC"/>
                </a:solidFill>
                <a:latin typeface="Calibri"/>
              </a:defRPr>
            </a:pPr>
            <a:r>
              <a:t>Specs must be living documents</a:t>
            </a:r>
          </a:p>
        </p:txBody>
      </p:sp>
      <p:sp>
        <p:nvSpPr>
          <p:cNvPr id="15" name="TextBox 14"/>
          <p:cNvSpPr txBox="1"/>
          <p:nvPr/>
        </p:nvSpPr>
        <p:spPr>
          <a:xfrm>
            <a:off x="1097280" y="4572000"/>
            <a:ext cx="9875520" cy="457200"/>
          </a:xfrm>
          <a:prstGeom prst="rect">
            <a:avLst/>
          </a:prstGeom>
          <a:noFill/>
        </p:spPr>
        <p:txBody>
          <a:bodyPr wrap="square">
            <a:spAutoFit/>
          </a:bodyPr>
          <a:lstStyle/>
          <a:p>
            <a:pPr algn="l">
              <a:defRPr sz="1500" b="0">
                <a:solidFill>
                  <a:srgbClr val="CCCCCC"/>
                </a:solidFill>
                <a:latin typeface="Calibri"/>
              </a:defRPr>
            </a:pPr>
            <a:r>
              <a:t>When you change the code, update the spec. When you add a feature, write the spec first. Stale specs actively mislead.</a:t>
            </a:r>
          </a:p>
        </p:txBody>
      </p:sp>
      <p:sp>
        <p:nvSpPr>
          <p:cNvPr id="16" name="Rectangle 15"/>
          <p:cNvSpPr/>
          <p:nvPr/>
        </p:nvSpPr>
        <p:spPr>
          <a:xfrm>
            <a:off x="731520" y="5303519"/>
            <a:ext cx="10515600" cy="1097280"/>
          </a:xfrm>
          <a:prstGeom prst="rect">
            <a:avLst/>
          </a:prstGeom>
          <a:solidFill>
            <a:srgbClr val="24243E"/>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303519"/>
            <a:ext cx="54864"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440679"/>
            <a:ext cx="9875520" cy="365760"/>
          </a:xfrm>
          <a:prstGeom prst="rect">
            <a:avLst/>
          </a:prstGeom>
          <a:noFill/>
        </p:spPr>
        <p:txBody>
          <a:bodyPr wrap="square">
            <a:spAutoFit/>
          </a:bodyPr>
          <a:lstStyle/>
          <a:p>
            <a:pPr algn="l">
              <a:defRPr sz="2000" b="1">
                <a:solidFill>
                  <a:srgbClr val="FF8C42"/>
                </a:solidFill>
                <a:latin typeface="Calibri"/>
              </a:defRPr>
            </a:pPr>
            <a:r>
              <a:t>Verify against specs, not vibes</a:t>
            </a:r>
          </a:p>
        </p:txBody>
      </p:sp>
      <p:sp>
        <p:nvSpPr>
          <p:cNvPr id="19" name="TextBox 18"/>
          <p:cNvSpPr txBox="1"/>
          <p:nvPr/>
        </p:nvSpPr>
        <p:spPr>
          <a:xfrm>
            <a:off x="1097280" y="5852159"/>
            <a:ext cx="9875520" cy="457200"/>
          </a:xfrm>
          <a:prstGeom prst="rect">
            <a:avLst/>
          </a:prstGeom>
          <a:noFill/>
        </p:spPr>
        <p:txBody>
          <a:bodyPr wrap="square">
            <a:spAutoFit/>
          </a:bodyPr>
          <a:lstStyle/>
          <a:p>
            <a:pPr algn="l">
              <a:defRPr sz="1500" b="0">
                <a:solidFill>
                  <a:srgbClr val="CCCCCC"/>
                </a:solidFill>
                <a:latin typeface="Calibri"/>
              </a:defRPr>
            </a:pPr>
            <a:r>
              <a:t>Code review becomes objective: does the implementation match the specification? Deviations are facts, not opinions.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914400"/>
          </a:xfrm>
          <a:prstGeom prst="rect">
            <a:avLst/>
          </a:prstGeom>
          <a:noFill/>
        </p:spPr>
        <p:txBody>
          <a:bodyPr wrap="square">
            <a:spAutoFit/>
          </a:bodyPr>
          <a:lstStyle/>
          <a:p>
            <a:pPr algn="ctr">
              <a:defRPr sz="4800" b="1">
                <a:solidFill>
                  <a:srgbClr val="FFFFFF"/>
                </a:solidFill>
                <a:latin typeface="Calibri"/>
              </a:defRPr>
            </a:pPr>
            <a:r>
              <a:t>SPEC FIRST. BUILD RIGHT.</a:t>
            </a:r>
          </a:p>
        </p:txBody>
      </p:sp>
      <p:sp>
        <p:nvSpPr>
          <p:cNvPr id="4" name="Rectangle 3"/>
          <p:cNvSpPr/>
          <p:nvPr/>
        </p:nvSpPr>
        <p:spPr>
          <a:xfrm>
            <a:off x="4114800" y="2926080"/>
            <a:ext cx="3657600" cy="2540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058400" cy="731520"/>
          </a:xfrm>
          <a:prstGeom prst="rect">
            <a:avLst/>
          </a:prstGeom>
          <a:noFill/>
        </p:spPr>
        <p:txBody>
          <a:bodyPr wrap="square">
            <a:spAutoFit/>
          </a:bodyPr>
          <a:lstStyle/>
          <a:p>
            <a:pPr algn="ctr">
              <a:defRPr sz="2200" b="0">
                <a:solidFill>
                  <a:srgbClr val="0096D6"/>
                </a:solidFill>
                <a:latin typeface="Calibri"/>
              </a:defRPr>
            </a:pPr>
            <a:r>
              <a:t>Write detailed specs. Let AI agents build.</a:t>
            </a:r>
            <a:br/>
            <a:r>
              <a:t>Review against specs. Keep specs alive.</a:t>
            </a:r>
          </a:p>
        </p:txBody>
      </p:sp>
      <p:sp>
        <p:nvSpPr>
          <p:cNvPr id="6" name="TextBox 5"/>
          <p:cNvSpPr txBox="1"/>
          <p:nvPr/>
        </p:nvSpPr>
        <p:spPr>
          <a:xfrm>
            <a:off x="914400" y="4572000"/>
            <a:ext cx="10058400" cy="548640"/>
          </a:xfrm>
          <a:prstGeom prst="rect">
            <a:avLst/>
          </a:prstGeom>
          <a:noFill/>
        </p:spPr>
        <p:txBody>
          <a:bodyPr wrap="square">
            <a:spAutoFit/>
          </a:bodyPr>
          <a:lstStyle/>
          <a:p>
            <a:pPr algn="ctr">
              <a:defRPr sz="2800" b="0">
                <a:solidFill>
                  <a:srgbClr val="999999"/>
                </a:solidFill>
                <a:latin typeface="Calibri"/>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